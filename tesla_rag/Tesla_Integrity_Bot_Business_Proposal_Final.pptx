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3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Temp 0.0 / Top-P 0.1 (default)</c:v>
                </c:pt>
              </c:strCache>
            </c:strRef>
          </c:tx>
          <c:spPr>
            <a:solidFill>
              <a:srgbClr val="E31937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7171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Correctness</c:v>
                </c:pt>
                <c:pt idx="1">
                  <c:v>Groundedness</c:v>
                </c:pt>
                <c:pt idx="2">
                  <c:v>Hallucination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78.900000000000006</c:v>
                </c:pt>
                <c:pt idx="1">
                  <c:v>94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14-48D2-ADC2-BE4CABCD5D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 0.8 / Top-P 0.9</c:v>
                </c:pt>
              </c:strCache>
            </c:strRef>
          </c:tx>
          <c:spPr>
            <a:solidFill>
              <a:srgbClr val="8A8A8A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7171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Correctness</c:v>
                </c:pt>
                <c:pt idx="1">
                  <c:v>Groundedness</c:v>
                </c:pt>
                <c:pt idx="2">
                  <c:v>Hallucination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84.5</c:v>
                </c:pt>
                <c:pt idx="1">
                  <c:v>94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14-48D2-ADC2-BE4CABCD5D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FCFCF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E9E9E9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55555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17171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Temp 0.0</c:v>
                </c:pt>
              </c:strCache>
            </c:strRef>
          </c:tx>
          <c:spPr>
            <a:solidFill>
              <a:srgbClr val="E31937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7171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Single-doc (7)</c:v>
                </c:pt>
                <c:pt idx="1">
                  <c:v>Multi-doc (4)</c:v>
                </c:pt>
                <c:pt idx="2">
                  <c:v>Out-of-scope (4)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72.7</c:v>
                </c:pt>
                <c:pt idx="1">
                  <c:v>68.8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3F-45C7-983F-8BAC229D5A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 0.8</c:v>
                </c:pt>
              </c:strCache>
            </c:strRef>
          </c:tx>
          <c:spPr>
            <a:solidFill>
              <a:srgbClr val="8A8A8A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7171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Single-doc (7)</c:v>
                </c:pt>
                <c:pt idx="1">
                  <c:v>Multi-doc (4)</c:v>
                </c:pt>
                <c:pt idx="2">
                  <c:v>Out-of-scope (4)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77.400000000000006</c:v>
                </c:pt>
                <c:pt idx="1">
                  <c:v>81.2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3F-45C7-983F-8BAC229D5A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FCFCF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E9E9E9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55555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17171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942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4F6AC-03E5-C898-4789-F497A0087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20932-859A-9D9E-6512-6FB4783BEF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80CD0-ED94-17B3-48C6-1FF6B8EBE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75F65-EC03-DF1B-339D-E03855C47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15128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6D8917-F300-E1D0-E988-226EA0788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2758E57-A177-E507-8561-16A140FB16D1}"/>
              </a:ext>
            </a:extLst>
          </p:cNvPr>
          <p:cNvSpPr txBox="1"/>
          <p:nvPr/>
        </p:nvSpPr>
        <p:spPr>
          <a:xfrm>
            <a:off x="731520" y="1143000"/>
            <a:ext cx="10515600" cy="1785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5800" b="1" dirty="0">
                <a:solidFill>
                  <a:srgbClr val="FFFFFF"/>
                </a:solidFill>
                <a:latin typeface="Arial"/>
              </a:rPr>
              <a:t>        </a:t>
            </a:r>
            <a:r>
              <a:rPr lang="en-IN" sz="4800" b="1" dirty="0">
                <a:solidFill>
                  <a:srgbClr val="FFFFFF"/>
                </a:solidFill>
                <a:latin typeface="Arial"/>
              </a:rPr>
              <a:t>RAG Real-Life Use Case</a:t>
            </a:r>
            <a:endParaRPr lang="en-IN" sz="4800" b="1" i="0" dirty="0">
              <a:solidFill>
                <a:srgbClr val="FFFFFF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lang="en-IN" sz="5800" b="1" dirty="0">
                <a:solidFill>
                  <a:srgbClr val="FFFFFF"/>
                </a:solidFill>
                <a:latin typeface="Arial"/>
              </a:rPr>
              <a:t>    </a:t>
            </a:r>
            <a:r>
              <a:rPr lang="en-IN" sz="5800" b="1" i="0" dirty="0">
                <a:solidFill>
                  <a:srgbClr val="FFFFFF"/>
                </a:solidFill>
                <a:latin typeface="Arial"/>
              </a:rPr>
              <a:t>          </a:t>
            </a:r>
            <a:r>
              <a:rPr lang="en-IN" sz="4000" b="1" i="0" dirty="0">
                <a:solidFill>
                  <a:srgbClr val="FFFFFF"/>
                </a:solidFill>
                <a:latin typeface="Arial"/>
              </a:rPr>
              <a:t>Internal Policy </a:t>
            </a:r>
            <a:r>
              <a:rPr sz="4000" b="1" i="0" dirty="0">
                <a:solidFill>
                  <a:srgbClr val="FFFFFF"/>
                </a:solidFill>
                <a:latin typeface="Arial"/>
              </a:rPr>
              <a:t>Bot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F02A16-2C3D-6CBF-C99B-440CBB257008}"/>
              </a:ext>
            </a:extLst>
          </p:cNvPr>
          <p:cNvSpPr txBox="1"/>
          <p:nvPr/>
        </p:nvSpPr>
        <p:spPr>
          <a:xfrm>
            <a:off x="10698480" y="6428232"/>
            <a:ext cx="941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 / 11</a:t>
            </a:r>
          </a:p>
        </p:txBody>
      </p:sp>
      <p:sp>
        <p:nvSpPr>
          <p:cNvPr id="20" name="Benefit card 1">
            <a:extLst>
              <a:ext uri="{FF2B5EF4-FFF2-40B4-BE49-F238E27FC236}">
                <a16:creationId xmlns:a16="http://schemas.microsoft.com/office/drawing/2014/main" id="{6D993C6D-8D0C-2DF5-609B-B946A0CE56B1}"/>
              </a:ext>
            </a:extLst>
          </p:cNvPr>
          <p:cNvSpPr/>
          <p:nvPr/>
        </p:nvSpPr>
        <p:spPr>
          <a:xfrm>
            <a:off x="1592981" y="3929897"/>
            <a:ext cx="9654139" cy="137160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Prsented By : Dolly Jain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Designation : Associate Engineer-Cadet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Organization: Cloud for Good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Date: October 16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913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731520" y="1143000"/>
            <a:ext cx="10515600" cy="892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 i="0" dirty="0">
                <a:solidFill>
                  <a:srgbClr val="FFFFFF"/>
                </a:solidFill>
                <a:latin typeface="Arial"/>
              </a:rPr>
              <a:t>Tesla</a:t>
            </a:r>
            <a:r>
              <a:rPr lang="en-IN" sz="5800" b="1" i="0" dirty="0">
                <a:solidFill>
                  <a:srgbClr val="FFFFFF"/>
                </a:solidFill>
                <a:latin typeface="Arial"/>
              </a:rPr>
              <a:t> Internal</a:t>
            </a:r>
            <a:r>
              <a:rPr sz="58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IN" sz="5800" b="1" i="0" dirty="0">
                <a:solidFill>
                  <a:srgbClr val="FFFFFF"/>
                </a:solidFill>
                <a:latin typeface="Arial"/>
              </a:rPr>
              <a:t>Policy </a:t>
            </a:r>
            <a:r>
              <a:rPr sz="5800" b="1" i="0" dirty="0">
                <a:solidFill>
                  <a:srgbClr val="FFFFFF"/>
                </a:solidFill>
                <a:latin typeface="Arial"/>
              </a:rPr>
              <a:t>Bot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31520" y="22860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 dirty="0">
                <a:solidFill>
                  <a:srgbClr val="CFCFCF"/>
                </a:solidFill>
                <a:latin typeface="Arial"/>
              </a:rPr>
              <a:t>An AI assistant that answers ethics and compliance questions from approved policy documents, with sources shown.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49634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100" b="1" i="0" dirty="0">
                <a:solidFill>
                  <a:srgbClr val="8A8A8A"/>
                </a:solidFill>
                <a:latin typeface="Arial"/>
              </a:rPr>
              <a:t>B</a:t>
            </a:r>
            <a:r>
              <a:rPr sz="1100" b="1" i="0" dirty="0">
                <a:solidFill>
                  <a:srgbClr val="8A8A8A"/>
                </a:solidFill>
                <a:latin typeface="Arial"/>
              </a:rPr>
              <a:t>USINESS BENEFITS</a:t>
            </a:r>
          </a:p>
        </p:txBody>
      </p:sp>
      <p:sp>
        <p:nvSpPr>
          <p:cNvPr id="6" name="Benefit card 1"/>
          <p:cNvSpPr/>
          <p:nvPr/>
        </p:nvSpPr>
        <p:spPr>
          <a:xfrm>
            <a:off x="731520" y="3749039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3950208"/>
            <a:ext cx="384048" cy="384048"/>
          </a:xfrm>
          <a:prstGeom prst="ellips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95935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Faster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262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FCFCF"/>
                </a:solidFill>
                <a:latin typeface="Arial"/>
              </a:rPr>
              <a:t>Seconds, not a search through manuals</a:t>
            </a:r>
          </a:p>
        </p:txBody>
      </p:sp>
      <p:sp>
        <p:nvSpPr>
          <p:cNvPr id="10" name="Benefit card 2"/>
          <p:cNvSpPr/>
          <p:nvPr/>
        </p:nvSpPr>
        <p:spPr>
          <a:xfrm>
            <a:off x="4434840" y="3749039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40" y="3950208"/>
            <a:ext cx="384048" cy="384048"/>
          </a:xfrm>
          <a:prstGeom prst="ellips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4003732"/>
            <a:ext cx="25603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b="1" dirty="0">
                <a:solidFill>
                  <a:srgbClr val="FFFFFF"/>
                </a:solidFill>
                <a:latin typeface="Arial"/>
              </a:rPr>
              <a:t>Easy to Interpret </a:t>
            </a:r>
            <a:endParaRPr sz="18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3440" y="45262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CFCFCF"/>
                </a:solidFill>
                <a:latin typeface="Arial"/>
              </a:rPr>
              <a:t>Same </a:t>
            </a:r>
            <a:r>
              <a:rPr lang="en-IN" sz="1400" b="0" i="0" dirty="0">
                <a:solidFill>
                  <a:srgbClr val="CFCFCF"/>
                </a:solidFill>
                <a:latin typeface="Arial"/>
              </a:rPr>
              <a:t>policy text </a:t>
            </a:r>
            <a:r>
              <a:rPr sz="1400" b="0" i="0" dirty="0">
                <a:solidFill>
                  <a:srgbClr val="CFCFCF"/>
                </a:solidFill>
                <a:latin typeface="Arial"/>
              </a:rPr>
              <a:t>behind every answer</a:t>
            </a:r>
          </a:p>
        </p:txBody>
      </p:sp>
      <p:sp>
        <p:nvSpPr>
          <p:cNvPr id="14" name="Benefit card 3"/>
          <p:cNvSpPr/>
          <p:nvPr/>
        </p:nvSpPr>
        <p:spPr>
          <a:xfrm>
            <a:off x="8138160" y="3749039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66760" y="3950208"/>
            <a:ext cx="384048" cy="384048"/>
          </a:xfrm>
          <a:prstGeom prst="ellips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95935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Auditable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5262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FCFCF"/>
                </a:solidFill>
                <a:latin typeface="Arial"/>
              </a:rPr>
              <a:t>Every answer links to its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28232"/>
            <a:ext cx="941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659033"/>
            <a:ext cx="11064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Scattered Documents, Difficult-to-Find Answers</a:t>
            </a:r>
            <a:endParaRPr sz="3000" b="1" i="0" dirty="0">
              <a:solidFill>
                <a:srgbClr val="0B0B0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28232"/>
            <a:ext cx="941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55555"/>
                </a:solidFill>
                <a:latin typeface="Arial"/>
              </a:rPr>
              <a:t>KEY CHALLENGES</a:t>
            </a:r>
          </a:p>
        </p:txBody>
      </p:sp>
      <p:sp>
        <p:nvSpPr>
          <p:cNvPr id="7" name="Challenge card 1"/>
          <p:cNvSpPr/>
          <p:nvPr/>
        </p:nvSpPr>
        <p:spPr>
          <a:xfrm>
            <a:off x="548640" y="1737360"/>
            <a:ext cx="6400800" cy="960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2020824"/>
            <a:ext cx="384048" cy="384048"/>
          </a:xfrm>
          <a:prstGeom prst="ellips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65376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Arial"/>
              </a:rPr>
              <a:t>Scattered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12848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Ethics, privacy, security and confidentiality rules sit in separate manuals.</a:t>
            </a:r>
          </a:p>
        </p:txBody>
      </p:sp>
      <p:sp>
        <p:nvSpPr>
          <p:cNvPr id="11" name="Challenge card 2"/>
          <p:cNvSpPr/>
          <p:nvPr/>
        </p:nvSpPr>
        <p:spPr>
          <a:xfrm>
            <a:off x="548640" y="2834639"/>
            <a:ext cx="6400800" cy="960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3118103"/>
            <a:ext cx="384048" cy="384048"/>
          </a:xfrm>
          <a:prstGeom prst="ellips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62656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Arial"/>
              </a:rPr>
              <a:t>Hard to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10127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Keyword search misses answers when staff use different wording.</a:t>
            </a:r>
          </a:p>
        </p:txBody>
      </p:sp>
      <p:sp>
        <p:nvSpPr>
          <p:cNvPr id="15" name="Challenge card 3"/>
          <p:cNvSpPr/>
          <p:nvPr/>
        </p:nvSpPr>
        <p:spPr>
          <a:xfrm>
            <a:off x="548640" y="3931920"/>
            <a:ext cx="6400800" cy="960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4215383"/>
            <a:ext cx="384048" cy="384048"/>
          </a:xfrm>
          <a:prstGeom prst="ellips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59935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Arial"/>
              </a:rPr>
              <a:t>Inconsistent reading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07408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Different teams interpret the same rule differently.</a:t>
            </a:r>
          </a:p>
        </p:txBody>
      </p:sp>
      <p:sp>
        <p:nvSpPr>
          <p:cNvPr id="19" name="Challenge card 4"/>
          <p:cNvSpPr/>
          <p:nvPr/>
        </p:nvSpPr>
        <p:spPr>
          <a:xfrm>
            <a:off x="548640" y="5029200"/>
            <a:ext cx="6400800" cy="960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7240" y="5312664"/>
            <a:ext cx="384048" cy="384048"/>
          </a:xfrm>
          <a:prstGeom prst="ellips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157216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Arial"/>
              </a:rPr>
              <a:t>Unverifiable AI 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504688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Generic chatbots answer fluently without citing company policy.</a:t>
            </a:r>
          </a:p>
        </p:txBody>
      </p:sp>
      <p:sp>
        <p:nvSpPr>
          <p:cNvPr id="23" name="Impact panel"/>
          <p:cNvSpPr/>
          <p:nvPr/>
        </p:nvSpPr>
        <p:spPr>
          <a:xfrm>
            <a:off x="7315200" y="1737360"/>
            <a:ext cx="4325112" cy="4251960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35240" y="1965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31937"/>
                </a:solidFill>
                <a:latin typeface="Arial"/>
              </a:rPr>
              <a:t>BUSINESS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3774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Lost productive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71576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FCFCF"/>
                </a:solidFill>
                <a:latin typeface="Arial"/>
              </a:rPr>
              <a:t>Skilled staff searching instead of building.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246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Compliance exposure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58444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FCFCF"/>
                </a:solidFill>
                <a:latin typeface="Arial"/>
              </a:rPr>
              <a:t>A misread rule can become a violation.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114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Repeat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45312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FCFCF"/>
                </a:solidFill>
                <a:latin typeface="Arial"/>
              </a:rPr>
              <a:t>Ethics teams re-answer routine queries.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983479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Shadow AI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5321807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FCFCF"/>
                </a:solidFill>
                <a:latin typeface="Arial"/>
              </a:rPr>
              <a:t>Staff turn to unvetted external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621792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0B0B0B"/>
                </a:solidFill>
                <a:latin typeface="Arial"/>
              </a:rPr>
              <a:t>Ask in plain English</a:t>
            </a:r>
            <a:r>
              <a:rPr lang="en-IN" sz="3000" b="1" dirty="0">
                <a:solidFill>
                  <a:srgbClr val="0B0B0B"/>
                </a:solidFill>
                <a:latin typeface="Arial"/>
              </a:rPr>
              <a:t> and g</a:t>
            </a:r>
            <a:r>
              <a:rPr sz="3000" b="1" i="0" dirty="0">
                <a:solidFill>
                  <a:srgbClr val="0B0B0B"/>
                </a:solidFill>
                <a:latin typeface="Arial"/>
              </a:rPr>
              <a:t>et a cited answer</a:t>
            </a:r>
            <a:r>
              <a:rPr lang="en-IN" sz="3000" b="1" i="0" dirty="0">
                <a:solidFill>
                  <a:srgbClr val="0B0B0B"/>
                </a:solidFill>
                <a:latin typeface="Arial"/>
              </a:rPr>
              <a:t>s</a:t>
            </a:r>
            <a:r>
              <a:rPr sz="3000" b="1" i="0" dirty="0">
                <a:solidFill>
                  <a:srgbClr val="0B0B0B"/>
                </a:solidFill>
                <a:latin typeface="Arial"/>
              </a:rPr>
              <a:t>.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28232"/>
            <a:ext cx="941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3 / 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0876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71717"/>
                </a:solidFill>
                <a:latin typeface="Arial"/>
              </a:rPr>
              <a:t>Ask naturally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No legal titles or section numbers needed.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79191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71717"/>
                </a:solidFill>
                <a:latin typeface="Arial"/>
              </a:rPr>
              <a:t>Search by 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44951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Finds the most relevant policy passages.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941063"/>
            <a:ext cx="384048" cy="384048"/>
          </a:xfrm>
          <a:prstGeom prst="ellips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49624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71717"/>
                </a:solidFill>
                <a:latin typeface="Arial"/>
              </a:rPr>
              <a:t>Answer from evidence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215384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Model must use retrieved text and decline otherwise.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111496"/>
            <a:ext cx="384048" cy="384048"/>
          </a:xfrm>
          <a:prstGeom prst="ellips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020056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71717"/>
                </a:solidFill>
                <a:latin typeface="Arial"/>
              </a:rPr>
              <a:t>Show the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385816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Document ID and excerpts shown beside the answer.</a:t>
            </a:r>
          </a:p>
        </p:txBody>
      </p:sp>
      <p:sp>
        <p:nvSpPr>
          <p:cNvPr id="18" name="Example card"/>
          <p:cNvSpPr/>
          <p:nvPr/>
        </p:nvSpPr>
        <p:spPr>
          <a:xfrm>
            <a:off x="5943600" y="1417320"/>
            <a:ext cx="5696712" cy="47091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1627632"/>
            <a:ext cx="1600200" cy="246888"/>
          </a:xfrm>
          <a:prstGeom prst="roundRect">
            <a:avLst>
              <a:gd name="adj" fmla="val 50000"/>
            </a:avLst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REAL DEMO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627632"/>
            <a:ext cx="1600200" cy="246888"/>
          </a:xfrm>
          <a:prstGeom prst="roundRect">
            <a:avLst>
              <a:gd name="adj" fmla="val 50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SYNTHETIC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01168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55555"/>
                </a:solidFill>
                <a:latin typeface="Arial"/>
              </a:rPr>
              <a:t>EMPLOYEE QUESTION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267712"/>
            <a:ext cx="5239512" cy="685800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What is the statutory SLA for processing customer vehicle telemetry deletion requests?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10896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55555"/>
                </a:solidFill>
                <a:latin typeface="Arial"/>
              </a:rPr>
              <a:t>BOT ANSWER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64992"/>
            <a:ext cx="5239512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3456432"/>
            <a:ext cx="4892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71717"/>
                </a:solidFill>
                <a:latin typeface="Arial"/>
              </a:rPr>
              <a:t>Timeframe: </a:t>
            </a:r>
            <a:r>
              <a:rPr sz="1300" b="0" i="0">
                <a:solidFill>
                  <a:srgbClr val="171717"/>
                </a:solidFill>
                <a:latin typeface="Arial"/>
              </a:rPr>
              <a:t>process, execute and verify a complete deletion request within 30 business days of receipt.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71717"/>
                </a:solidFill>
                <a:latin typeface="Arial"/>
              </a:rPr>
              <a:t>Scope: </a:t>
            </a:r>
            <a:r>
              <a:rPr sz="1300" b="0" i="0">
                <a:solidFill>
                  <a:srgbClr val="171717"/>
                </a:solidFill>
                <a:latin typeface="Arial"/>
              </a:rPr>
              <a:t>all stored vehicle telemetry logs and associated cloud metadata (GDPR, CCPA, CPRA).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55555"/>
                </a:solidFill>
                <a:latin typeface="Arial"/>
              </a:rPr>
              <a:t>(Cited: TSLA-ETH-2026-02, Section 5.2, 30-Day Statutory Deletion SLA)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21208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55555"/>
                </a:solidFill>
                <a:latin typeface="Arial"/>
              </a:rPr>
              <a:t>SOURCE SHOWN IN THE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5522976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31937"/>
                </a:solidFill>
                <a:latin typeface="Arial"/>
              </a:rPr>
              <a:t>TSLA-ETH-2026-02 (customer_data_privacy.txt) | Section: Full Document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0B0B"/>
                </a:solidFill>
                <a:latin typeface="Arial"/>
              </a:rPr>
              <a:t>Four user groups, one simple workflow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28232"/>
            <a:ext cx="941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4 / 11</a:t>
            </a:r>
          </a:p>
        </p:txBody>
      </p:sp>
      <p:sp>
        <p:nvSpPr>
          <p:cNvPr id="6" name="User card 1"/>
          <p:cNvSpPr/>
          <p:nvPr/>
        </p:nvSpPr>
        <p:spPr>
          <a:xfrm>
            <a:off x="548640" y="1463040"/>
            <a:ext cx="2606040" cy="17830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Arial"/>
              </a:rP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Arial"/>
              </a:rPr>
              <a:t>Get policy guidance in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31937"/>
                </a:solidFill>
                <a:latin typeface="Arial"/>
              </a:rPr>
              <a:t>Metric: lookup time, satisfaction</a:t>
            </a:r>
          </a:p>
        </p:txBody>
      </p:sp>
      <p:sp>
        <p:nvSpPr>
          <p:cNvPr id="10" name="User card 2"/>
          <p:cNvSpPr/>
          <p:nvPr/>
        </p:nvSpPr>
        <p:spPr>
          <a:xfrm>
            <a:off x="3374136" y="1463040"/>
            <a:ext cx="2606040" cy="17830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57016" y="162763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Arial"/>
              </a:rPr>
              <a:t>HR &amp; Ethics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20116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Arial"/>
              </a:rPr>
              <a:t>Fewer repetitive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69748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31937"/>
                </a:solidFill>
                <a:latin typeface="Arial"/>
              </a:rPr>
              <a:t>Metric: inquiry ticket volume</a:t>
            </a:r>
          </a:p>
        </p:txBody>
      </p:sp>
      <p:sp>
        <p:nvSpPr>
          <p:cNvPr id="14" name="User card 3"/>
          <p:cNvSpPr/>
          <p:nvPr/>
        </p:nvSpPr>
        <p:spPr>
          <a:xfrm>
            <a:off x="6199631" y="1463040"/>
            <a:ext cx="2606040" cy="17830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62763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Arial"/>
              </a:rPr>
              <a:t>Compliance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116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Arial"/>
              </a:rPr>
              <a:t>More consistent 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69748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31937"/>
                </a:solidFill>
                <a:latin typeface="Arial"/>
              </a:rPr>
              <a:t>Metric: audit vs. expert answers</a:t>
            </a:r>
          </a:p>
        </p:txBody>
      </p:sp>
      <p:sp>
        <p:nvSpPr>
          <p:cNvPr id="18" name="User card 4"/>
          <p:cNvSpPr/>
          <p:nvPr/>
        </p:nvSpPr>
        <p:spPr>
          <a:xfrm>
            <a:off x="9025128" y="1463040"/>
            <a:ext cx="2606040" cy="17830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08007" y="162763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1717"/>
                </a:solidFill>
                <a:latin typeface="Arial"/>
              </a:rPr>
              <a:t>People managers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7" y="20116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Arial"/>
              </a:rPr>
              <a:t>Confident team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7" y="269748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31937"/>
                </a:solidFill>
                <a:latin typeface="Arial"/>
              </a:rPr>
              <a:t>Metric: manager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747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555555"/>
                </a:solidFill>
                <a:latin typeface="Arial"/>
              </a:rPr>
              <a:t>WORKFLOW</a:t>
            </a:r>
          </a:p>
        </p:txBody>
      </p:sp>
      <p:sp>
        <p:nvSpPr>
          <p:cNvPr id="23" name="Pentagon 22"/>
          <p:cNvSpPr/>
          <p:nvPr/>
        </p:nvSpPr>
        <p:spPr>
          <a:xfrm>
            <a:off x="548640" y="3840480"/>
            <a:ext cx="2002536" cy="731520"/>
          </a:xfrm>
          <a:prstGeom prst="homePlate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1  Sign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19110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555555"/>
                </a:solidFill>
                <a:latin typeface="Arial"/>
              </a:rPr>
              <a:t>Mock login in demo</a:t>
            </a:r>
          </a:p>
        </p:txBody>
      </p:sp>
      <p:sp>
        <p:nvSpPr>
          <p:cNvPr id="25" name="Pentagon 24"/>
          <p:cNvSpPr/>
          <p:nvPr/>
        </p:nvSpPr>
        <p:spPr>
          <a:xfrm>
            <a:off x="2816352" y="3840480"/>
            <a:ext cx="2002536" cy="731520"/>
          </a:xfrm>
          <a:prstGeom prst="homePlate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 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4709160"/>
            <a:ext cx="19110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Type a question in plain English</a:t>
            </a:r>
          </a:p>
        </p:txBody>
      </p:sp>
      <p:sp>
        <p:nvSpPr>
          <p:cNvPr id="27" name="Pentagon 26"/>
          <p:cNvSpPr/>
          <p:nvPr/>
        </p:nvSpPr>
        <p:spPr>
          <a:xfrm>
            <a:off x="5084064" y="3840480"/>
            <a:ext cx="2002536" cy="731520"/>
          </a:xfrm>
          <a:prstGeom prst="homePlate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  Retrieve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4064" y="4709160"/>
            <a:ext cx="19110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Top 3 matching policy chunks</a:t>
            </a:r>
          </a:p>
        </p:txBody>
      </p:sp>
      <p:sp>
        <p:nvSpPr>
          <p:cNvPr id="29" name="Pentagon 28"/>
          <p:cNvSpPr/>
          <p:nvPr/>
        </p:nvSpPr>
        <p:spPr>
          <a:xfrm>
            <a:off x="7351775" y="3840480"/>
            <a:ext cx="2002536" cy="731520"/>
          </a:xfrm>
          <a:prstGeom prst="homePlat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dirty="0">
                <a:solidFill>
                  <a:schemeClr val="bg1"/>
                </a:solidFill>
                <a:latin typeface="Arial"/>
              </a:rPr>
              <a:t>4 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1775" y="4709160"/>
            <a:ext cx="19110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Arial"/>
              </a:rPr>
              <a:t>Grounded, cited response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9488" y="3840480"/>
            <a:ext cx="2002536" cy="73152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5  </a:t>
            </a:r>
            <a:r>
              <a:rPr lang="en-IN" sz="1600" b="1" dirty="0">
                <a:solidFill>
                  <a:srgbClr val="FFFFFF"/>
                </a:solidFill>
                <a:latin typeface="Arial"/>
              </a:rPr>
              <a:t>Learn More</a:t>
            </a:r>
            <a:endParaRPr sz="1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19488" y="4709160"/>
            <a:ext cx="19110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555555"/>
                </a:solidFill>
                <a:latin typeface="Arial"/>
              </a:rPr>
              <a:t>Open the source excerpts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797852"/>
            <a:ext cx="106984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E31937"/>
                </a:solidFill>
                <a:latin typeface="Arial"/>
              </a:rPr>
              <a:t>Implemented: </a:t>
            </a:r>
            <a:r>
              <a:rPr sz="1300" b="0" i="0" dirty="0" err="1">
                <a:solidFill>
                  <a:srgbClr val="171717"/>
                </a:solidFill>
                <a:latin typeface="Arial"/>
              </a:rPr>
              <a:t>Streamlit</a:t>
            </a:r>
            <a:r>
              <a:rPr sz="1300" b="0" i="0" dirty="0">
                <a:solidFill>
                  <a:srgbClr val="171717"/>
                </a:solidFill>
                <a:latin typeface="Arial"/>
              </a:rPr>
              <a:t> chat UI, source badges, </a:t>
            </a:r>
            <a:r>
              <a:rPr sz="1300" b="0" i="0">
                <a:solidFill>
                  <a:srgbClr val="171717"/>
                </a:solidFill>
                <a:latin typeface="Arial"/>
              </a:rPr>
              <a:t>chunk inspector.</a:t>
            </a:r>
            <a:endParaRPr sz="1300" b="0" i="0" dirty="0">
              <a:solidFill>
                <a:srgbClr val="171717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0B0B"/>
                </a:solidFill>
                <a:latin typeface="Arial"/>
              </a:rPr>
              <a:t>RAG keeps answers grounded and policies easy to update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28232"/>
            <a:ext cx="8686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dirty="0">
                <a:solidFill>
                  <a:srgbClr val="8A8A8A"/>
                </a:solidFill>
                <a:latin typeface="Arial"/>
              </a:rPr>
              <a:t>.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28232"/>
            <a:ext cx="941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5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596896" cy="658368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463040"/>
            <a:ext cx="2048255" cy="658368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Plain-language
questions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463040"/>
            <a:ext cx="2048255" cy="658368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Grounded in
company policy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463040"/>
            <a:ext cx="2048255" cy="658368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Shows
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59" y="1463040"/>
            <a:ext cx="2048255" cy="658368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Updates without
retraining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2596896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600" b="1">
                <a:solidFill>
                  <a:srgbClr val="171717"/>
                </a:solidFill>
                <a:latin typeface="Arial"/>
              </a:rPr>
              <a:t>Manual 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194560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E31937"/>
                </a:solidFill>
                <a:latin typeface="Arial"/>
              </a:rPr>
              <a:t>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194560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1E8E3E"/>
                </a:solidFill>
                <a:latin typeface="Arial"/>
              </a:rPr>
              <a:t>Yes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194560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1E8E3E"/>
                </a:solidFill>
                <a:latin typeface="Arial"/>
              </a:rPr>
              <a:t>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59" y="2194560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1E8E3E"/>
                </a:solidFill>
                <a:latin typeface="Arial"/>
              </a:rPr>
              <a:t>Yes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16352"/>
            <a:ext cx="2596896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600" b="1">
                <a:solidFill>
                  <a:srgbClr val="171717"/>
                </a:solidFill>
                <a:latin typeface="Arial"/>
              </a:rPr>
              <a:t>Keyword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816352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E31937"/>
                </a:solidFill>
                <a:latin typeface="Arial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2816352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1E8E3E"/>
                </a:solidFill>
                <a:latin typeface="Arial"/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816352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1E8E3E"/>
                </a:solidFill>
                <a:latin typeface="Arial"/>
              </a:rPr>
              <a:t>Yes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59" y="2816352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1E8E3E"/>
                </a:solidFill>
                <a:latin typeface="Arial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38144"/>
            <a:ext cx="2596896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600" b="1">
                <a:solidFill>
                  <a:srgbClr val="171717"/>
                </a:solidFill>
                <a:latin typeface="Arial"/>
              </a:rPr>
              <a:t>General LLM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438144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1E8E3E"/>
                </a:solidFill>
                <a:latin typeface="Arial"/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3438144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E31937"/>
                </a:solidFill>
                <a:latin typeface="Arial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3438144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E31937"/>
                </a:solidFill>
                <a:latin typeface="Arial"/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59" y="3438144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E31937"/>
                </a:solidFill>
                <a:latin typeface="Arial"/>
              </a:rP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59936"/>
            <a:ext cx="2596896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600" b="1">
                <a:solidFill>
                  <a:srgbClr val="171717"/>
                </a:solidFill>
                <a:latin typeface="Arial"/>
              </a:rPr>
              <a:t>Fine-tuned LLM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059936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1E8E3E"/>
                </a:solidFill>
                <a:latin typeface="Arial"/>
              </a:rPr>
              <a:t>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4059936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B26A00"/>
                </a:solidFill>
                <a:latin typeface="Arial"/>
              </a:rPr>
              <a:t>Partly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4059936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E31937"/>
                </a:solidFill>
                <a:latin typeface="Arial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59" y="4059936"/>
            <a:ext cx="2048255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E31937"/>
                </a:solidFill>
                <a:latin typeface="Arial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681728"/>
            <a:ext cx="2596896" cy="566928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RAG assistant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681728"/>
            <a:ext cx="2048255" cy="566928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4681728"/>
            <a:ext cx="2048255" cy="566928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4681728"/>
            <a:ext cx="2048255" cy="566928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59" y="4681728"/>
            <a:ext cx="2048255" cy="566928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Yes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31937"/>
                </a:solidFill>
                <a:latin typeface="Arial"/>
              </a:rPr>
              <a:t>Trade-off: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RAG quality depends on retrieval and document coverage. Qualitative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621792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0B0B0B"/>
                </a:solidFill>
                <a:latin typeface="Arial"/>
              </a:rPr>
              <a:t>End-to-</a:t>
            </a:r>
            <a:r>
              <a:rPr lang="en-IN" sz="3000" b="1" i="0" dirty="0">
                <a:solidFill>
                  <a:srgbClr val="0B0B0B"/>
                </a:solidFill>
                <a:latin typeface="Arial"/>
              </a:rPr>
              <a:t>E</a:t>
            </a:r>
            <a:r>
              <a:rPr sz="3000" b="1" i="0" dirty="0" err="1">
                <a:solidFill>
                  <a:srgbClr val="0B0B0B"/>
                </a:solidFill>
                <a:latin typeface="Arial"/>
              </a:rPr>
              <a:t>nd</a:t>
            </a:r>
            <a:r>
              <a:rPr sz="3000" b="1" i="0" dirty="0">
                <a:solidFill>
                  <a:srgbClr val="0B0B0B"/>
                </a:solidFill>
                <a:latin typeface="Arial"/>
              </a:rPr>
              <a:t> RAG architecture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28232"/>
            <a:ext cx="941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31937"/>
                </a:solidFill>
                <a:latin typeface="Arial"/>
              </a:rPr>
              <a:t>A.  OFFLINE: DOCUMENT PREPARATION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73352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171717"/>
                </a:solidFill>
                <a:latin typeface="Arial"/>
              </a:rPr>
              <a:t>Policy files</a:t>
            </a:r>
          </a:p>
          <a:p>
            <a:pPr algn="ctr"/>
            <a:r>
              <a:rPr sz="1200" dirty="0">
                <a:solidFill>
                  <a:srgbClr val="555555"/>
                </a:solidFill>
                <a:latin typeface="Arial"/>
              </a:rPr>
              <a:t>5 synthetic .txt docs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22576" y="2290572"/>
            <a:ext cx="528066" cy="0"/>
          </a:xfrm>
          <a:prstGeom prst="line">
            <a:avLst/>
          </a:prstGeom>
          <a:ln w="22225">
            <a:solidFill>
              <a:srgbClr val="1717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7218" y="1673352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Loader</a:t>
            </a:r>
          </a:p>
          <a:p>
            <a:pPr algn="ctr"/>
            <a:r>
              <a:rPr sz="1200">
                <a:solidFill>
                  <a:srgbClr val="CFCFCF"/>
                </a:solidFill>
                <a:latin typeface="Arial"/>
              </a:rPr>
              <a:t>Doc ID, classification, date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1154" y="2290572"/>
            <a:ext cx="528066" cy="0"/>
          </a:xfrm>
          <a:prstGeom prst="line">
            <a:avLst/>
          </a:prstGeom>
          <a:ln w="22225">
            <a:solidFill>
              <a:srgbClr val="1717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25796" y="1673352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Chunker</a:t>
            </a:r>
          </a:p>
          <a:p>
            <a:pPr algn="ctr"/>
            <a:r>
              <a:rPr sz="1200">
                <a:solidFill>
                  <a:srgbClr val="CFCFCF"/>
                </a:solidFill>
                <a:latin typeface="Arial"/>
              </a:rPr>
              <a:t>500 chars, 100 overlap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99732" y="2290572"/>
            <a:ext cx="528066" cy="0"/>
          </a:xfrm>
          <a:prstGeom prst="line">
            <a:avLst/>
          </a:prstGeom>
          <a:ln w="22225">
            <a:solidFill>
              <a:srgbClr val="1717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64374" y="1673352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Embeddings</a:t>
            </a:r>
          </a:p>
          <a:p>
            <a:pPr algn="ctr"/>
            <a:r>
              <a:rPr sz="1200">
                <a:solidFill>
                  <a:srgbClr val="CFCFCF"/>
                </a:solidFill>
                <a:latin typeface="Arial"/>
              </a:rPr>
              <a:t>all-MiniLM-L6-v2 (384-d)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38310" y="2290572"/>
            <a:ext cx="528066" cy="0"/>
          </a:xfrm>
          <a:prstGeom prst="line">
            <a:avLst/>
          </a:prstGeom>
          <a:ln w="22225">
            <a:solidFill>
              <a:srgbClr val="1717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02952" y="1673352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Arial"/>
              </a:rPr>
              <a:t>ChromaDB</a:t>
            </a:r>
            <a:endParaRPr sz="1500" b="1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1200" dirty="0">
                <a:solidFill>
                  <a:srgbClr val="CFCFCF"/>
                </a:solidFill>
                <a:latin typeface="Arial"/>
              </a:rPr>
              <a:t>250 chunks, cosine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31937"/>
                </a:solidFill>
                <a:latin typeface="Arial"/>
              </a:rPr>
              <a:t>B.  REAL TIME: QUESTION ANSWERING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9312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71717"/>
                </a:solidFill>
                <a:latin typeface="Arial"/>
              </a:rPr>
              <a:t>Employee</a:t>
            </a:r>
          </a:p>
          <a:p>
            <a:pPr algn="ctr"/>
            <a:r>
              <a:rPr sz="1200">
                <a:solidFill>
                  <a:srgbClr val="555555"/>
                </a:solidFill>
                <a:latin typeface="Arial"/>
              </a:rPr>
              <a:t>Streamlit chat UI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22576" y="4256532"/>
            <a:ext cx="528066" cy="0"/>
          </a:xfrm>
          <a:prstGeom prst="line">
            <a:avLst/>
          </a:prstGeom>
          <a:ln w="22225">
            <a:solidFill>
              <a:srgbClr val="1717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7218" y="3639312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Retrieve</a:t>
            </a:r>
          </a:p>
          <a:p>
            <a:pPr algn="ctr"/>
            <a:r>
              <a:rPr sz="1200">
                <a:solidFill>
                  <a:srgbClr val="CFCFCF"/>
                </a:solidFill>
                <a:latin typeface="Arial"/>
              </a:rPr>
              <a:t>Embed query, top 3 chunks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61154" y="4256532"/>
            <a:ext cx="528066" cy="0"/>
          </a:xfrm>
          <a:prstGeom prst="line">
            <a:avLst/>
          </a:prstGeom>
          <a:ln w="22225">
            <a:solidFill>
              <a:srgbClr val="1717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25796" y="3639312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Filter</a:t>
            </a:r>
          </a:p>
          <a:p>
            <a:pPr algn="ctr"/>
            <a:r>
              <a:rPr sz="1200">
                <a:solidFill>
                  <a:srgbClr val="CFCFCF"/>
                </a:solidFill>
                <a:latin typeface="Arial"/>
              </a:rPr>
              <a:t>Similarity at least 0.35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99732" y="4256532"/>
            <a:ext cx="528066" cy="0"/>
          </a:xfrm>
          <a:prstGeom prst="line">
            <a:avLst/>
          </a:prstGeom>
          <a:ln w="22225">
            <a:solidFill>
              <a:srgbClr val="1717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64374" y="3639312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Generate</a:t>
            </a:r>
          </a:p>
          <a:p>
            <a:pPr algn="ctr"/>
            <a:r>
              <a:rPr sz="1200">
                <a:solidFill>
                  <a:srgbClr val="CFCFCF"/>
                </a:solidFill>
                <a:latin typeface="Arial"/>
              </a:rPr>
              <a:t>gpt-oss-120b on Groq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38310" y="4256532"/>
            <a:ext cx="528066" cy="0"/>
          </a:xfrm>
          <a:prstGeom prst="line">
            <a:avLst/>
          </a:prstGeom>
          <a:ln w="22225">
            <a:solidFill>
              <a:srgbClr val="1717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02952" y="3639312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Answer</a:t>
            </a:r>
          </a:p>
          <a:p>
            <a:pPr algn="ctr"/>
            <a:r>
              <a:rPr sz="1200">
                <a:solidFill>
                  <a:srgbClr val="CFCFCF"/>
                </a:solidFill>
                <a:latin typeface="Arial"/>
              </a:rPr>
              <a:t>Text + sources + excerpts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3949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E31937"/>
                </a:solidFill>
                <a:latin typeface="Arial"/>
              </a:rPr>
              <a:t>Guardrails in the prompt: </a:t>
            </a:r>
            <a:r>
              <a:rPr sz="1300" b="0" i="0" dirty="0">
                <a:solidFill>
                  <a:srgbClr val="171717"/>
                </a:solidFill>
                <a:latin typeface="Arial"/>
              </a:rPr>
              <a:t>answer only from retrieved context, no invented policies, cite document and section, say so when information is missing. </a:t>
            </a:r>
            <a:r>
              <a:rPr sz="1300" b="1" i="0" dirty="0">
                <a:solidFill>
                  <a:srgbClr val="171717"/>
                </a:solidFill>
                <a:latin typeface="Arial"/>
              </a:rPr>
              <a:t>Temperature 0.0 by default.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621792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0B0B0B"/>
                </a:solidFill>
                <a:latin typeface="Arial"/>
              </a:rPr>
              <a:t>LLM </a:t>
            </a:r>
            <a:r>
              <a:rPr lang="en-IN" sz="3000" b="1" i="0" dirty="0">
                <a:solidFill>
                  <a:srgbClr val="0B0B0B"/>
                </a:solidFill>
                <a:latin typeface="Arial"/>
              </a:rPr>
              <a:t>VS </a:t>
            </a:r>
            <a:r>
              <a:rPr sz="3000" b="1" i="0" dirty="0">
                <a:solidFill>
                  <a:srgbClr val="0B0B0B"/>
                </a:solidFill>
                <a:latin typeface="Arial"/>
              </a:rPr>
              <a:t>SLM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28232"/>
            <a:ext cx="941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7 / 11</a:t>
            </a:r>
          </a:p>
        </p:txBody>
      </p:sp>
      <p:sp>
        <p:nvSpPr>
          <p:cNvPr id="6" name="Model card 1"/>
          <p:cNvSpPr/>
          <p:nvPr/>
        </p:nvSpPr>
        <p:spPr>
          <a:xfrm>
            <a:off x="548640" y="1463040"/>
            <a:ext cx="3749039" cy="33832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2959" y="16916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dirty="0">
                <a:solidFill>
                  <a:srgbClr val="171717"/>
                </a:solidFill>
                <a:latin typeface="Arial"/>
              </a:rPr>
              <a:t>SMALL MODEL (SLM)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57400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555555"/>
                </a:solidFill>
                <a:latin typeface="Arial"/>
              </a:rPr>
              <a:t>e.g. 3B-8B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11303"/>
            <a:ext cx="2805765" cy="150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Lower resource requirements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Potentially lower latency and cost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Suitable for simpler, focused tasks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May require more optimization for complex tasks</a:t>
            </a:r>
          </a:p>
        </p:txBody>
      </p:sp>
      <p:sp>
        <p:nvSpPr>
          <p:cNvPr id="11" name="Model card 2"/>
          <p:cNvSpPr/>
          <p:nvPr/>
        </p:nvSpPr>
        <p:spPr>
          <a:xfrm>
            <a:off x="4520505" y="1372181"/>
            <a:ext cx="3749039" cy="3383280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79" y="1656333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dirty="0">
                <a:solidFill>
                  <a:srgbClr val="FFFFFF"/>
                </a:solidFill>
                <a:latin typeface="Arial"/>
              </a:rPr>
              <a:t>LARGE MODEL (LLM)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057400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CFCFCF"/>
                </a:solidFill>
                <a:latin typeface="Arial"/>
              </a:rPr>
              <a:t>e.g. 70B-120B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560319"/>
            <a:ext cx="2791327" cy="150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Handles complex questions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suited to multi-part responses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Flexible natural-language generation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Typically higher compute cost</a:t>
            </a:r>
          </a:p>
        </p:txBody>
      </p:sp>
      <p:sp>
        <p:nvSpPr>
          <p:cNvPr id="16" name="Demo models card"/>
          <p:cNvSpPr/>
          <p:nvPr/>
        </p:nvSpPr>
        <p:spPr>
          <a:xfrm>
            <a:off x="8412480" y="1463040"/>
            <a:ext cx="3227832" cy="33832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1584213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E31937"/>
                </a:solidFill>
                <a:latin typeface="Arial"/>
              </a:rPr>
              <a:t>MODELS</a:t>
            </a:r>
            <a:r>
              <a:rPr lang="en-IN" sz="1400" b="1" i="0" dirty="0">
                <a:solidFill>
                  <a:srgbClr val="E31937"/>
                </a:solidFill>
                <a:latin typeface="Arial"/>
              </a:rPr>
              <a:t> USED</a:t>
            </a:r>
            <a:endParaRPr sz="1400" b="1" i="0" dirty="0">
              <a:solidFill>
                <a:srgbClr val="E31937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03918" y="2027098"/>
            <a:ext cx="2993459" cy="18543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 dirty="0">
                <a:solidFill>
                  <a:srgbClr val="171717"/>
                </a:solidFill>
                <a:latin typeface="Arial"/>
              </a:rPr>
              <a:t>Embedding</a:t>
            </a:r>
          </a:p>
          <a:p>
            <a:pPr algn="l">
              <a:spcAft>
                <a:spcPts val="300"/>
              </a:spcAft>
            </a:pPr>
            <a:r>
              <a:rPr b="0" i="0" dirty="0">
                <a:solidFill>
                  <a:srgbClr val="171717"/>
                </a:solidFill>
                <a:latin typeface="Arial"/>
              </a:rPr>
              <a:t>all-MiniLM-L6-v2</a:t>
            </a:r>
          </a:p>
          <a:p>
            <a:pPr algn="l">
              <a:spcAft>
                <a:spcPts val="300"/>
              </a:spcAft>
            </a:pPr>
            <a:r>
              <a:rPr b="0" i="0" dirty="0">
                <a:solidFill>
                  <a:srgbClr val="171717"/>
                </a:solidFill>
                <a:latin typeface="Arial"/>
              </a:rPr>
              <a:t>384-d vectors</a:t>
            </a:r>
          </a:p>
          <a:p>
            <a:pPr algn="l">
              <a:spcAft>
                <a:spcPts val="300"/>
              </a:spcAft>
            </a:pPr>
            <a:endParaRPr b="0" i="0" dirty="0">
              <a:solidFill>
                <a:srgbClr val="171717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b="1" i="0" dirty="0">
                <a:solidFill>
                  <a:srgbClr val="171717"/>
                </a:solidFill>
                <a:latin typeface="Arial"/>
              </a:rPr>
              <a:t>Generation</a:t>
            </a:r>
          </a:p>
          <a:p>
            <a:pPr algn="l">
              <a:spcAft>
                <a:spcPts val="300"/>
              </a:spcAft>
            </a:pPr>
            <a:r>
              <a:rPr b="0" i="0" dirty="0" err="1">
                <a:solidFill>
                  <a:srgbClr val="171717"/>
                </a:solidFill>
                <a:latin typeface="Arial"/>
              </a:rPr>
              <a:t>openai</a:t>
            </a:r>
            <a:r>
              <a:rPr b="0" i="0" dirty="0">
                <a:solidFill>
                  <a:srgbClr val="171717"/>
                </a:solidFill>
                <a:latin typeface="Arial"/>
              </a:rPr>
              <a:t>/gpt-oss-120b</a:t>
            </a:r>
          </a:p>
        </p:txBody>
      </p:sp>
      <p:sp>
        <p:nvSpPr>
          <p:cNvPr id="19" name="Recommendation"/>
          <p:cNvSpPr/>
          <p:nvPr/>
        </p:nvSpPr>
        <p:spPr>
          <a:xfrm>
            <a:off x="632138" y="4967493"/>
            <a:ext cx="11091672" cy="1716771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Why LLM over SLM?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Cross-Policy Reasoning: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 SLMs miss clauses across overlapping documents; the LLM accurately connects complex multi-policy rules.</a:t>
            </a:r>
          </a:p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Zero Hallucination: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 SLMs tend to fabricate answers when uncertain; the LLM strictly refuses out-of-scope questions.</a:t>
            </a: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0B0B"/>
                </a:solidFill>
                <a:latin typeface="Arial"/>
              </a:rPr>
              <a:t>No hallucinations flagged across 15 test questions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28232"/>
            <a:ext cx="941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55555"/>
                </a:solidFill>
                <a:latin typeface="Arial"/>
              </a:rPr>
              <a:t>OVERALL (15 QUESTIONS)</a:t>
            </a:r>
          </a:p>
        </p:txBody>
      </p:sp>
      <p:graphicFrame>
        <p:nvGraphicFramePr>
          <p:cNvPr id="7" name="Overall metrics chart"/>
          <p:cNvGraphicFramePr>
            <a:graphicFrameLocks noGrp="1"/>
          </p:cNvGraphicFramePr>
          <p:nvPr/>
        </p:nvGraphicFramePr>
        <p:xfrm>
          <a:off x="548640" y="1645920"/>
          <a:ext cx="59436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1371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55555"/>
                </a:solidFill>
                <a:latin typeface="Arial"/>
              </a:rPr>
              <a:t>CORRECTNESS BY QUESTION TYPE</a:t>
            </a:r>
          </a:p>
        </p:txBody>
      </p:sp>
      <p:graphicFrame>
        <p:nvGraphicFramePr>
          <p:cNvPr id="9" name="Correctness by type chart"/>
          <p:cNvGraphicFramePr>
            <a:graphicFrameLocks noGrp="1"/>
          </p:cNvGraphicFramePr>
          <p:nvPr/>
        </p:nvGraphicFramePr>
        <p:xfrm>
          <a:off x="6858000" y="1645920"/>
          <a:ext cx="4782312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166360"/>
            <a:ext cx="2679192" cy="841248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FCFCF"/>
                </a:solidFill>
                <a:latin typeface="Arial"/>
              </a:rPr>
              <a:t>hallucination flagged, both configs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5166360"/>
            <a:ext cx="2679192" cy="841248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872" y="52120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4 /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56692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FCFCF"/>
                </a:solidFill>
                <a:latin typeface="Arial"/>
              </a:rPr>
              <a:t>out-of-scope questions declined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5166360"/>
            <a:ext cx="2679192" cy="8412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4224" y="52120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71717"/>
                </a:solidFill>
                <a:latin typeface="Arial"/>
              </a:rPr>
              <a:t>~2s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56692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avg latency per answer (approx.)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5166360"/>
            <a:ext cx="2679192" cy="8412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0576" y="52120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71717"/>
                </a:solidFill>
                <a:latin typeface="Arial"/>
              </a:rPr>
              <a:t>No clear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56692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temp 0.0 vs 0.8, 15 questions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0B0B"/>
                </a:solidFill>
                <a:latin typeface="Arial"/>
              </a:rPr>
              <a:t>The working application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28232"/>
            <a:ext cx="941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10 / 11</a:t>
            </a:r>
          </a:p>
        </p:txBody>
      </p:sp>
      <p:sp>
        <p:nvSpPr>
          <p:cNvPr id="6" name="Frame Grounded answer with source badge"/>
          <p:cNvSpPr/>
          <p:nvPr/>
        </p:nvSpPr>
        <p:spPr>
          <a:xfrm>
            <a:off x="521207" y="1389888"/>
            <a:ext cx="5495544" cy="3115246"/>
          </a:xfrm>
          <a:prstGeom prst="rect">
            <a:avLst/>
          </a:prstGeom>
          <a:noFill/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Screenshot Grounded answer with source badge" descr="Screenshot of the Tesla Integrity Bot Streamlit app: Grounded answer with source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440680" cy="3060382"/>
          </a:xfrm>
          <a:prstGeom prst="rect">
            <a:avLst/>
          </a:prstGeom>
        </p:spPr>
      </p:pic>
      <p:sp>
        <p:nvSpPr>
          <p:cNvPr id="8" name="Frame Retrieved chunks with similarity scores"/>
          <p:cNvSpPr/>
          <p:nvPr/>
        </p:nvSpPr>
        <p:spPr>
          <a:xfrm>
            <a:off x="6172200" y="1389888"/>
            <a:ext cx="5495544" cy="3115246"/>
          </a:xfrm>
          <a:prstGeom prst="rect">
            <a:avLst/>
          </a:prstGeom>
          <a:noFill/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Screenshot Retrieved chunks with similarity scores" descr="Screenshot of the Tesla Integrity Bot Streamlit app: Retrieved chunks with similarity scor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417320"/>
            <a:ext cx="5440680" cy="3060382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48640" y="4614862"/>
            <a:ext cx="329184" cy="329184"/>
          </a:xfrm>
          <a:prstGeom prst="ellips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14862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Arial"/>
              </a:rPr>
              <a:t>Grounded answer with source badge</a:t>
            </a:r>
          </a:p>
        </p:txBody>
      </p:sp>
      <p:sp>
        <p:nvSpPr>
          <p:cNvPr id="12" name="Oval 11"/>
          <p:cNvSpPr/>
          <p:nvPr/>
        </p:nvSpPr>
        <p:spPr>
          <a:xfrm>
            <a:off x="6199632" y="4614862"/>
            <a:ext cx="329184" cy="329184"/>
          </a:xfrm>
          <a:prstGeom prst="ellips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4614862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Arial"/>
              </a:rPr>
              <a:t>Retrieved chunks with similarity scores</a:t>
            </a:r>
          </a:p>
        </p:txBody>
      </p:sp>
      <p:sp>
        <p:nvSpPr>
          <p:cNvPr id="14" name="Frame Mock sign-in"/>
          <p:cNvSpPr/>
          <p:nvPr/>
        </p:nvSpPr>
        <p:spPr>
          <a:xfrm>
            <a:off x="521207" y="5090350"/>
            <a:ext cx="2157984" cy="1237868"/>
          </a:xfrm>
          <a:prstGeom prst="rect">
            <a:avLst/>
          </a:prstGeom>
          <a:noFill/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Screenshot Mock sign-in" descr="Screenshot of the Tesla Integrity Bot Streamlit app: Mock sign-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17782"/>
            <a:ext cx="2103120" cy="1183004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2880360" y="5209222"/>
            <a:ext cx="329184" cy="329184"/>
          </a:xfrm>
          <a:prstGeom prst="ellipse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5209222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1717"/>
                </a:solidFill>
                <a:latin typeface="Arial"/>
              </a:rPr>
              <a:t>Mock sign-in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5666422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31937"/>
                </a:solidFill>
                <a:latin typeface="Arial"/>
              </a:rPr>
              <a:t>Unaltered captures </a:t>
            </a:r>
            <a:r>
              <a:rPr sz="1300" b="0" i="0">
                <a:solidFill>
                  <a:srgbClr val="171717"/>
                </a:solidFill>
                <a:latin typeface="Arial"/>
              </a:rPr>
              <a:t>of the running Streamlit app on the synthetic corpus. Any username is accepted at sign-in (mock gate). Sidebar exposes Top-K, temperature and top-p.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849</Words>
  <Application>Microsoft Office PowerPoint</Application>
  <PresentationFormat>Widescreen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Dolly Jain</cp:lastModifiedBy>
  <cp:revision>15</cp:revision>
  <dcterms:created xsi:type="dcterms:W3CDTF">2013-01-27T09:14:16Z</dcterms:created>
  <dcterms:modified xsi:type="dcterms:W3CDTF">2026-10-15T05:17:01Z</dcterms:modified>
  <cp:category/>
</cp:coreProperties>
</file>