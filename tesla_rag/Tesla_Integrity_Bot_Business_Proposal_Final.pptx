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Temp 0.0 / Top-P 0.1 (default)</c:v>
                </c:pt>
              </c:strCache>
            </c:strRef>
          </c:tx>
          <c:spPr>
            <a:solidFill>
              <a:srgbClr val="E31937"/>
            </a:solidFill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71717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Correctness</c:v>
                </c:pt>
                <c:pt idx="1">
                  <c:v>Groundedness</c:v>
                </c:pt>
                <c:pt idx="2">
                  <c:v>Hallucination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78.900000000000006</c:v>
                </c:pt>
                <c:pt idx="1">
                  <c:v>94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14-48D2-ADC2-BE4CABCD5D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Temp 0.8 / Top-P 0.9</c:v>
                </c:pt>
              </c:strCache>
            </c:strRef>
          </c:tx>
          <c:spPr>
            <a:solidFill>
              <a:srgbClr val="8A8A8A"/>
            </a:solidFill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71717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Correctness</c:v>
                </c:pt>
                <c:pt idx="1">
                  <c:v>Groundedness</c:v>
                </c:pt>
                <c:pt idx="2">
                  <c:v>Hallucination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84.5</c:v>
                </c:pt>
                <c:pt idx="1">
                  <c:v>94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14-48D2-ADC2-BE4CABCD5D6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CFCF"/>
            </a:solidFill>
          </a:ln>
        </c:spPr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E9E9E9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5555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17171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Temp 0.0</c:v>
                </c:pt>
              </c:strCache>
            </c:strRef>
          </c:tx>
          <c:spPr>
            <a:solidFill>
              <a:srgbClr val="E31937"/>
            </a:solidFill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71717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Single-doc (7)</c:v>
                </c:pt>
                <c:pt idx="1">
                  <c:v>Multi-doc (4)</c:v>
                </c:pt>
                <c:pt idx="2">
                  <c:v>Out-of-scope (4)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72.7</c:v>
                </c:pt>
                <c:pt idx="1">
                  <c:v>68.8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3F-45C7-983F-8BAC229D5A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Temp 0.8</c:v>
                </c:pt>
              </c:strCache>
            </c:strRef>
          </c:tx>
          <c:spPr>
            <a:solidFill>
              <a:srgbClr val="8A8A8A"/>
            </a:solidFill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71717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Single-doc (7)</c:v>
                </c:pt>
                <c:pt idx="1">
                  <c:v>Multi-doc (4)</c:v>
                </c:pt>
                <c:pt idx="2">
                  <c:v>Out-of-scope (4)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77.400000000000006</c:v>
                </c:pt>
                <c:pt idx="1">
                  <c:v>81.2</c:v>
                </c:pt>
                <c:pt idx="2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A3F-45C7-983F-8BAC229D5A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FCFCF"/>
            </a:solidFill>
          </a:ln>
        </c:spPr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E9E9E9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5555"/>
                </a:solidFill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171717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942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4F6AC-03E5-C898-4789-F497A008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20932-859A-9D9E-6512-6FB4783BEF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80CD0-ED94-17B3-48C6-1FF6B8EBE1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75F65-EC03-DF1B-339D-E03855C47D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5128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AA7AB-F9B8-C44C-7333-AA750E009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A0E243-4257-0D24-43FF-B2ABB4247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852AEE-7B97-6AB6-2939-B21781E9DB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2DAE9-F165-B551-5A9B-14D8114DDF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8420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D8917-F300-E1D0-E988-226EA078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2758E57-A177-E507-8561-16A140FB16D1}"/>
              </a:ext>
            </a:extLst>
          </p:cNvPr>
          <p:cNvSpPr txBox="1"/>
          <p:nvPr/>
        </p:nvSpPr>
        <p:spPr>
          <a:xfrm>
            <a:off x="731520" y="1143000"/>
            <a:ext cx="10515600" cy="1785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5800" b="1" dirty="0">
                <a:solidFill>
                  <a:srgbClr val="FFFFFF"/>
                </a:solidFill>
                <a:latin typeface="Arial"/>
              </a:rPr>
              <a:t>        </a:t>
            </a:r>
            <a:r>
              <a:rPr lang="en-IN" sz="4800" b="1" dirty="0">
                <a:solidFill>
                  <a:srgbClr val="FFFFFF"/>
                </a:solidFill>
                <a:latin typeface="Arial"/>
              </a:rPr>
              <a:t>RAG Real-Life Use Case</a:t>
            </a:r>
            <a:endParaRPr lang="en-IN" sz="4800" b="1" i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lang="en-IN" sz="5800" b="1" dirty="0">
                <a:solidFill>
                  <a:srgbClr val="FFFFFF"/>
                </a:solidFill>
                <a:latin typeface="Arial"/>
              </a:rPr>
              <a:t>    </a:t>
            </a:r>
            <a:r>
              <a:rPr lang="en-IN" sz="5800" b="1" i="0" dirty="0">
                <a:solidFill>
                  <a:srgbClr val="FFFFFF"/>
                </a:solidFill>
                <a:latin typeface="Arial"/>
              </a:rPr>
              <a:t>          </a:t>
            </a:r>
            <a:r>
              <a:rPr lang="en-IN" sz="4000" b="1" i="0" dirty="0">
                <a:solidFill>
                  <a:srgbClr val="FFFFFF"/>
                </a:solidFill>
                <a:latin typeface="Arial"/>
              </a:rPr>
              <a:t>Internal Policy </a:t>
            </a:r>
            <a:r>
              <a:rPr sz="4000" b="1" i="0" dirty="0">
                <a:solidFill>
                  <a:srgbClr val="FFFFFF"/>
                </a:solidFill>
                <a:latin typeface="Arial"/>
              </a:rPr>
              <a:t>Bot</a:t>
            </a:r>
          </a:p>
        </p:txBody>
      </p:sp>
      <p:sp>
        <p:nvSpPr>
          <p:cNvPr id="20" name="Benefit card 1">
            <a:extLst>
              <a:ext uri="{FF2B5EF4-FFF2-40B4-BE49-F238E27FC236}">
                <a16:creationId xmlns:a16="http://schemas.microsoft.com/office/drawing/2014/main" id="{6D993C6D-8D0C-2DF5-609B-B946A0CE56B1}"/>
              </a:ext>
            </a:extLst>
          </p:cNvPr>
          <p:cNvSpPr/>
          <p:nvPr/>
        </p:nvSpPr>
        <p:spPr>
          <a:xfrm>
            <a:off x="1592981" y="3939041"/>
            <a:ext cx="9654139" cy="1371600"/>
          </a:xfrm>
          <a:prstGeom prst="roundRect">
            <a:avLst>
              <a:gd name="adj" fmla="val 4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Prsented By : Dolly Jain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Designation : Associate Engineer-Cadet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Organization: Cloud for Good</a:t>
            </a:r>
            <a:b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Date: October 16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1913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31520" y="1143000"/>
            <a:ext cx="10515600" cy="892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 i="0" dirty="0">
                <a:solidFill>
                  <a:srgbClr val="FFFFFF"/>
                </a:solidFill>
                <a:latin typeface="Arial"/>
              </a:rPr>
              <a:t>Tesla</a:t>
            </a:r>
            <a:r>
              <a:rPr lang="en-IN" sz="5800" b="1" i="0" dirty="0">
                <a:solidFill>
                  <a:srgbClr val="FFFFFF"/>
                </a:solidFill>
                <a:latin typeface="Arial"/>
              </a:rPr>
              <a:t> Internal</a:t>
            </a:r>
            <a:r>
              <a:rPr sz="5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lang="en-IN" sz="5800" b="1" i="0" dirty="0">
                <a:solidFill>
                  <a:srgbClr val="FFFFFF"/>
                </a:solidFill>
                <a:latin typeface="Arial"/>
              </a:rPr>
              <a:t>Policy </a:t>
            </a:r>
            <a:r>
              <a:rPr sz="5800" b="1" i="0" dirty="0">
                <a:solidFill>
                  <a:srgbClr val="FFFFFF"/>
                </a:solidFill>
                <a:latin typeface="Arial"/>
              </a:rPr>
              <a:t>Bot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31520" y="22860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 dirty="0">
                <a:solidFill>
                  <a:srgbClr val="CFCFCF"/>
                </a:solidFill>
                <a:latin typeface="Arial"/>
              </a:rPr>
              <a:t>An AI assistant that answers ethics and compliance questions from approved policy documents, with sources shown.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49634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sz="1100" b="1" i="0" dirty="0">
                <a:solidFill>
                  <a:srgbClr val="8A8A8A"/>
                </a:solidFill>
                <a:latin typeface="Arial"/>
              </a:rPr>
              <a:t>B</a:t>
            </a:r>
            <a:r>
              <a:rPr sz="1100" b="1" i="0" dirty="0">
                <a:solidFill>
                  <a:srgbClr val="8A8A8A"/>
                </a:solidFill>
                <a:latin typeface="Arial"/>
              </a:rPr>
              <a:t>USINESS BENEFITS</a:t>
            </a:r>
          </a:p>
        </p:txBody>
      </p:sp>
      <p:sp>
        <p:nvSpPr>
          <p:cNvPr id="6" name="Benefit card 1"/>
          <p:cNvSpPr/>
          <p:nvPr/>
        </p:nvSpPr>
        <p:spPr>
          <a:xfrm>
            <a:off x="731520" y="3749039"/>
            <a:ext cx="3520440" cy="1371600"/>
          </a:xfrm>
          <a:prstGeom prst="roundRect">
            <a:avLst>
              <a:gd name="adj" fmla="val 4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3950208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95935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Faster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Seconds, not a search through manuals</a:t>
            </a:r>
          </a:p>
        </p:txBody>
      </p:sp>
      <p:sp>
        <p:nvSpPr>
          <p:cNvPr id="10" name="Benefit card 2"/>
          <p:cNvSpPr/>
          <p:nvPr/>
        </p:nvSpPr>
        <p:spPr>
          <a:xfrm>
            <a:off x="4434840" y="3749039"/>
            <a:ext cx="3520440" cy="1371600"/>
          </a:xfrm>
          <a:prstGeom prst="roundRect">
            <a:avLst>
              <a:gd name="adj" fmla="val 4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63440" y="3950208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9" y="4003732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b="1" dirty="0">
                <a:solidFill>
                  <a:srgbClr val="FFFFFF"/>
                </a:solidFill>
                <a:latin typeface="Arial"/>
              </a:rPr>
              <a:t>Easy to Interpret </a:t>
            </a:r>
            <a:endParaRPr sz="1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5262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CFCFCF"/>
                </a:solidFill>
                <a:latin typeface="Arial"/>
              </a:rPr>
              <a:t>Same </a:t>
            </a:r>
            <a:r>
              <a:rPr lang="en-IN" sz="1400" b="0" i="0" dirty="0">
                <a:solidFill>
                  <a:srgbClr val="CFCFCF"/>
                </a:solidFill>
                <a:latin typeface="Arial"/>
              </a:rPr>
              <a:t>policy text </a:t>
            </a:r>
            <a:r>
              <a:rPr sz="1400" b="0" i="0" dirty="0">
                <a:solidFill>
                  <a:srgbClr val="CFCFCF"/>
                </a:solidFill>
                <a:latin typeface="Arial"/>
              </a:rPr>
              <a:t>behind every answer</a:t>
            </a:r>
          </a:p>
        </p:txBody>
      </p:sp>
      <p:sp>
        <p:nvSpPr>
          <p:cNvPr id="14" name="Benefit card 3"/>
          <p:cNvSpPr/>
          <p:nvPr/>
        </p:nvSpPr>
        <p:spPr>
          <a:xfrm>
            <a:off x="8138160" y="3749039"/>
            <a:ext cx="3520440" cy="1371600"/>
          </a:xfrm>
          <a:prstGeom prst="roundRect">
            <a:avLst>
              <a:gd name="adj" fmla="val 4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66760" y="3950208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95935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Auditable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52628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Every answer links to its source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59033"/>
            <a:ext cx="11064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3200" b="1" dirty="0">
                <a:latin typeface="Arial" panose="020B0604020202020204" pitchFamily="34" charset="0"/>
                <a:cs typeface="Arial" panose="020B0604020202020204" pitchFamily="34" charset="0"/>
              </a:rPr>
              <a:t>Scattered Documents, Difficult-to-Find Answers</a:t>
            </a:r>
            <a:endParaRPr sz="3000" b="1" i="0" dirty="0">
              <a:solidFill>
                <a:srgbClr val="0B0B0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55555"/>
                </a:solidFill>
                <a:latin typeface="Arial"/>
              </a:rPr>
              <a:t>KEY CHALLENGES</a:t>
            </a:r>
          </a:p>
        </p:txBody>
      </p:sp>
      <p:sp>
        <p:nvSpPr>
          <p:cNvPr id="7" name="Challenge card 1"/>
          <p:cNvSpPr/>
          <p:nvPr/>
        </p:nvSpPr>
        <p:spPr>
          <a:xfrm>
            <a:off x="548640" y="1737360"/>
            <a:ext cx="6400800" cy="960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2020824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65376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Scattered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12848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Ethics, privacy, security and confidentiality rules sit in separate manuals.</a:t>
            </a:r>
          </a:p>
        </p:txBody>
      </p:sp>
      <p:sp>
        <p:nvSpPr>
          <p:cNvPr id="11" name="Challenge card 2"/>
          <p:cNvSpPr/>
          <p:nvPr/>
        </p:nvSpPr>
        <p:spPr>
          <a:xfrm>
            <a:off x="548640" y="2834639"/>
            <a:ext cx="6400800" cy="960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77240" y="3118103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62656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Hard to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10127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Keyword search misses answers when staff use different wording.</a:t>
            </a:r>
          </a:p>
        </p:txBody>
      </p:sp>
      <p:sp>
        <p:nvSpPr>
          <p:cNvPr id="15" name="Challenge card 3"/>
          <p:cNvSpPr/>
          <p:nvPr/>
        </p:nvSpPr>
        <p:spPr>
          <a:xfrm>
            <a:off x="548640" y="3931920"/>
            <a:ext cx="6400800" cy="960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77240" y="4215383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59935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Inconsistent reading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07408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Different teams interpret the same rule differently.</a:t>
            </a:r>
          </a:p>
        </p:txBody>
      </p:sp>
      <p:sp>
        <p:nvSpPr>
          <p:cNvPr id="19" name="Challenge card 4"/>
          <p:cNvSpPr/>
          <p:nvPr/>
        </p:nvSpPr>
        <p:spPr>
          <a:xfrm>
            <a:off x="548640" y="5029200"/>
            <a:ext cx="6400800" cy="96012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5312664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157216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Unverifiable AI 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504688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Generic chatbots answer fluently without citing company policy.</a:t>
            </a:r>
          </a:p>
        </p:txBody>
      </p:sp>
      <p:sp>
        <p:nvSpPr>
          <p:cNvPr id="23" name="Impact panel"/>
          <p:cNvSpPr/>
          <p:nvPr/>
        </p:nvSpPr>
        <p:spPr>
          <a:xfrm>
            <a:off x="7315200" y="1737360"/>
            <a:ext cx="4325112" cy="4251960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35240" y="19659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BUSINESS 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3774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Lost productive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71576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Skilled staff searching instead of building.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Compliance exposure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8444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A misread rule can become a violation.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1148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Repeat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45312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Ethics teams re-answer routine queries.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983479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Shadow AI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321807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CFCFCF"/>
                </a:solidFill>
                <a:latin typeface="Arial"/>
              </a:rPr>
              <a:t>Staff turn to unvetted external tools.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0B0B0B"/>
                </a:solidFill>
                <a:latin typeface="Arial"/>
              </a:rPr>
              <a:t>Ask in plain English</a:t>
            </a:r>
            <a:r>
              <a:rPr lang="en-IN" sz="3000" b="1" dirty="0">
                <a:solidFill>
                  <a:srgbClr val="0B0B0B"/>
                </a:solidFill>
                <a:latin typeface="Arial"/>
              </a:rPr>
              <a:t> and g</a:t>
            </a:r>
            <a:r>
              <a:rPr sz="3000" b="1" i="0" dirty="0">
                <a:solidFill>
                  <a:srgbClr val="0B0B0B"/>
                </a:solidFill>
                <a:latin typeface="Arial"/>
              </a:rPr>
              <a:t>et a cited answer</a:t>
            </a:r>
            <a:r>
              <a:rPr lang="en-IN" sz="3000" b="1" i="0" dirty="0">
                <a:solidFill>
                  <a:srgbClr val="0B0B0B"/>
                </a:solidFill>
                <a:latin typeface="Arial"/>
              </a:rPr>
              <a:t>s</a:t>
            </a:r>
            <a:r>
              <a:rPr sz="3000" b="1" i="0" dirty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0876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1717"/>
                </a:solidFill>
                <a:latin typeface="Arial"/>
              </a:rPr>
              <a:t>Ask naturally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874519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No legal titles or section numbers needed.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79191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1717"/>
                </a:solidFill>
                <a:latin typeface="Arial"/>
              </a:rPr>
              <a:t>Search by 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44951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Finds the most relevant policy passages.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41063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49624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1717"/>
                </a:solidFill>
                <a:latin typeface="Arial"/>
              </a:rPr>
              <a:t>Answer from evidence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215384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Model must use retrieved text and decline otherwise.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111496"/>
            <a:ext cx="384048" cy="384048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0056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1717"/>
                </a:solidFill>
                <a:latin typeface="Arial"/>
              </a:rPr>
              <a:t>Show the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385816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Document ID and excerpts shown beside the answer.</a:t>
            </a:r>
          </a:p>
        </p:txBody>
      </p:sp>
      <p:sp>
        <p:nvSpPr>
          <p:cNvPr id="18" name="Example card"/>
          <p:cNvSpPr/>
          <p:nvPr/>
        </p:nvSpPr>
        <p:spPr>
          <a:xfrm>
            <a:off x="5943600" y="1417320"/>
            <a:ext cx="5696712" cy="470916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72200" y="1627632"/>
            <a:ext cx="1600200" cy="246888"/>
          </a:xfrm>
          <a:prstGeom prst="roundRect">
            <a:avLst>
              <a:gd name="adj" fmla="val 50000"/>
            </a:avLst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REAL DEMO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1627632"/>
            <a:ext cx="1600200" cy="246888"/>
          </a:xfrm>
          <a:prstGeom prst="roundRect">
            <a:avLst>
              <a:gd name="adj" fmla="val 50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SYNTHETIC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01168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55555"/>
                </a:solidFill>
                <a:latin typeface="Arial"/>
              </a:rPr>
              <a:t>EMPLOYEE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267712"/>
            <a:ext cx="5239512" cy="685800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What is the statutory SLA for processing customer vehicle telemetry deletion requests?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10896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55555"/>
                </a:solidFill>
                <a:latin typeface="Arial"/>
              </a:rPr>
              <a:t>BOT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64992"/>
            <a:ext cx="523951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3456432"/>
            <a:ext cx="4892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71717"/>
                </a:solidFill>
                <a:latin typeface="Arial"/>
              </a:rPr>
              <a:t>Timeframe: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process, execute and verify a complete deletion request within 30 business days of receipt.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71717"/>
                </a:solidFill>
                <a:latin typeface="Arial"/>
              </a:rPr>
              <a:t>Scope: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all stored vehicle telemetry logs and associated cloud metadata (GDPR, CCPA, CPRA).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55555"/>
                </a:solidFill>
                <a:latin typeface="Arial"/>
              </a:rPr>
              <a:t>(Cited: TSLA-ETH-2026-02, Section 5.2, 30-Day Statutory Deletion SLA)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212080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55555"/>
                </a:solidFill>
                <a:latin typeface="Arial"/>
              </a:rPr>
              <a:t>SOURCE SHOWN IN THE 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5522976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TSLA-ETH-2026-02 (customer_data_privacy.txt) | Section: Full Document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0B0B"/>
                </a:solidFill>
                <a:latin typeface="Arial"/>
              </a:rPr>
              <a:t>Four user groups, one simple workflow</a:t>
            </a:r>
          </a:p>
        </p:txBody>
      </p:sp>
      <p:sp>
        <p:nvSpPr>
          <p:cNvPr id="6" name="User card 1"/>
          <p:cNvSpPr/>
          <p:nvPr/>
        </p:nvSpPr>
        <p:spPr>
          <a:xfrm>
            <a:off x="548640" y="1463040"/>
            <a:ext cx="2606040" cy="17830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Employees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71717"/>
                </a:solidFill>
                <a:latin typeface="Arial"/>
              </a:rPr>
              <a:t>Get policy guidance in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Metric: lookup time, satisfaction</a:t>
            </a:r>
          </a:p>
        </p:txBody>
      </p:sp>
      <p:sp>
        <p:nvSpPr>
          <p:cNvPr id="10" name="User card 2"/>
          <p:cNvSpPr/>
          <p:nvPr/>
        </p:nvSpPr>
        <p:spPr>
          <a:xfrm>
            <a:off x="3374136" y="1463040"/>
            <a:ext cx="2606040" cy="17830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57016" y="162763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HR &amp; Ethics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7016" y="20116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71717"/>
                </a:solidFill>
                <a:latin typeface="Arial"/>
              </a:rPr>
              <a:t>Fewer repetitive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6974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Metric: inquiry ticket volume</a:t>
            </a:r>
          </a:p>
        </p:txBody>
      </p:sp>
      <p:sp>
        <p:nvSpPr>
          <p:cNvPr id="14" name="User card 3"/>
          <p:cNvSpPr/>
          <p:nvPr/>
        </p:nvSpPr>
        <p:spPr>
          <a:xfrm>
            <a:off x="6199631" y="1463040"/>
            <a:ext cx="2606040" cy="17830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82512" y="162763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Compliance teams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0116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71717"/>
                </a:solidFill>
                <a:latin typeface="Arial"/>
              </a:rPr>
              <a:t>More consistent awareness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6974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Metric: audit vs. expert answers</a:t>
            </a:r>
          </a:p>
        </p:txBody>
      </p:sp>
      <p:sp>
        <p:nvSpPr>
          <p:cNvPr id="18" name="User card 4"/>
          <p:cNvSpPr/>
          <p:nvPr/>
        </p:nvSpPr>
        <p:spPr>
          <a:xfrm>
            <a:off x="9025128" y="1463040"/>
            <a:ext cx="2606040" cy="17830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7" y="162763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1717"/>
                </a:solidFill>
                <a:latin typeface="Arial"/>
              </a:rPr>
              <a:t>People managers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7" y="201168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71717"/>
                </a:solidFill>
                <a:latin typeface="Arial"/>
              </a:rPr>
              <a:t>Confident team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7" y="26974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Metric: manager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474720"/>
            <a:ext cx="7315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dirty="0">
                <a:solidFill>
                  <a:srgbClr val="555555"/>
                </a:solidFill>
                <a:latin typeface="Arial"/>
              </a:rPr>
              <a:t>WORKFLOW</a:t>
            </a:r>
          </a:p>
        </p:txBody>
      </p:sp>
      <p:sp>
        <p:nvSpPr>
          <p:cNvPr id="23" name="Pentagon 22"/>
          <p:cNvSpPr/>
          <p:nvPr/>
        </p:nvSpPr>
        <p:spPr>
          <a:xfrm>
            <a:off x="548640" y="3840480"/>
            <a:ext cx="2002536" cy="731520"/>
          </a:xfrm>
          <a:prstGeom prst="homePlat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Arial"/>
              </a:rPr>
              <a:t>1  Sign 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09160"/>
            <a:ext cx="19110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555555"/>
                </a:solidFill>
                <a:latin typeface="Arial"/>
              </a:rPr>
              <a:t>Mock login in demo</a:t>
            </a:r>
          </a:p>
        </p:txBody>
      </p:sp>
      <p:sp>
        <p:nvSpPr>
          <p:cNvPr id="25" name="Pentagon 24"/>
          <p:cNvSpPr/>
          <p:nvPr/>
        </p:nvSpPr>
        <p:spPr>
          <a:xfrm>
            <a:off x="2816352" y="3840480"/>
            <a:ext cx="2002536" cy="731520"/>
          </a:xfrm>
          <a:prstGeom prst="homePlat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4709160"/>
            <a:ext cx="1911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555555"/>
                </a:solidFill>
                <a:latin typeface="Arial"/>
              </a:rPr>
              <a:t>Type a question in plain English</a:t>
            </a:r>
          </a:p>
        </p:txBody>
      </p:sp>
      <p:sp>
        <p:nvSpPr>
          <p:cNvPr id="27" name="Pentagon 26"/>
          <p:cNvSpPr/>
          <p:nvPr/>
        </p:nvSpPr>
        <p:spPr>
          <a:xfrm>
            <a:off x="5084064" y="3840480"/>
            <a:ext cx="2002536" cy="731520"/>
          </a:xfrm>
          <a:prstGeom prst="homePlat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Retrieve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4064" y="4709160"/>
            <a:ext cx="1911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Top 3 matching policy chunks</a:t>
            </a:r>
          </a:p>
        </p:txBody>
      </p:sp>
      <p:sp>
        <p:nvSpPr>
          <p:cNvPr id="29" name="Pentagon 28"/>
          <p:cNvSpPr/>
          <p:nvPr/>
        </p:nvSpPr>
        <p:spPr>
          <a:xfrm>
            <a:off x="7351775" y="3840480"/>
            <a:ext cx="2002536" cy="731520"/>
          </a:xfrm>
          <a:prstGeom prst="homePlat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dirty="0">
                <a:solidFill>
                  <a:schemeClr val="bg1"/>
                </a:solidFill>
                <a:latin typeface="Arial"/>
              </a:rPr>
              <a:t>4  Answer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4709160"/>
            <a:ext cx="1911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Grounded, cited response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19488" y="3840480"/>
            <a:ext cx="2002536" cy="731520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Arial"/>
              </a:rPr>
              <a:t>5  </a:t>
            </a:r>
            <a:r>
              <a:rPr lang="en-IN" sz="1600" b="1" dirty="0">
                <a:solidFill>
                  <a:srgbClr val="FFFFFF"/>
                </a:solidFill>
                <a:latin typeface="Arial"/>
              </a:rPr>
              <a:t>Learn More</a:t>
            </a:r>
            <a:endParaRPr sz="1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619488" y="4709160"/>
            <a:ext cx="1911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 dirty="0">
                <a:solidFill>
                  <a:srgbClr val="555555"/>
                </a:solidFill>
                <a:latin typeface="Arial"/>
              </a:rPr>
              <a:t>Open the source excerpts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797852"/>
            <a:ext cx="106984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dirty="0">
                <a:solidFill>
                  <a:srgbClr val="E31937"/>
                </a:solidFill>
                <a:latin typeface="Arial"/>
              </a:rPr>
              <a:t>Implemented: </a:t>
            </a:r>
            <a:r>
              <a:rPr sz="1300" b="0" i="0" dirty="0" err="1">
                <a:solidFill>
                  <a:srgbClr val="171717"/>
                </a:solidFill>
                <a:latin typeface="Arial"/>
              </a:rPr>
              <a:t>Streamlit</a:t>
            </a:r>
            <a:r>
              <a:rPr sz="1300" b="0" i="0" dirty="0">
                <a:solidFill>
                  <a:srgbClr val="171717"/>
                </a:solidFill>
                <a:latin typeface="Arial"/>
              </a:rPr>
              <a:t> chat UI, source badges, chunk inspector.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0B0B"/>
                </a:solidFill>
                <a:latin typeface="Arial"/>
              </a:rPr>
              <a:t>RAG keeps answers grounded and policies easy to 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596896" cy="658368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463040"/>
            <a:ext cx="2048255" cy="658368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Plain-language
questions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0" y="1463040"/>
            <a:ext cx="2048255" cy="658368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Grounded in
company 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463040"/>
            <a:ext cx="2048255" cy="658368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Shows
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59" y="1463040"/>
            <a:ext cx="2048255" cy="658368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Updates without
retraining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2596896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600" b="1">
                <a:solidFill>
                  <a:srgbClr val="171717"/>
                </a:solidFill>
                <a:latin typeface="Arial"/>
              </a:rPr>
              <a:t>Manual search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194560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2194560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194560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59" y="2194560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16352"/>
            <a:ext cx="2596896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600" b="1">
                <a:solidFill>
                  <a:srgbClr val="171717"/>
                </a:solidFill>
                <a:latin typeface="Arial"/>
              </a:rPr>
              <a:t>Keyword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16352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2816352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816352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59" y="2816352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38144"/>
            <a:ext cx="2596896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600" b="1">
                <a:solidFill>
                  <a:srgbClr val="171717"/>
                </a:solidFill>
                <a:latin typeface="Arial"/>
              </a:rPr>
              <a:t>General LLM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3438144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438144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38144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59" y="3438144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59936"/>
            <a:ext cx="2596896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600" b="1">
                <a:solidFill>
                  <a:srgbClr val="171717"/>
                </a:solidFill>
                <a:latin typeface="Arial"/>
              </a:rPr>
              <a:t>Fine-tuned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059936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1E8E3E"/>
                </a:solidFill>
                <a:latin typeface="Arial"/>
              </a:rPr>
              <a:t>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4059936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B26A00"/>
                </a:solidFill>
                <a:latin typeface="Arial"/>
              </a:rPr>
              <a:t>Partly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4059936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59" y="4059936"/>
            <a:ext cx="2048255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E31937"/>
                </a:solidFill>
                <a:latin typeface="Arial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81728"/>
            <a:ext cx="2596896" cy="566928"/>
          </a:xfrm>
          <a:prstGeom prst="rect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RAG assistant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4681728"/>
            <a:ext cx="2048255" cy="566928"/>
          </a:xfrm>
          <a:prstGeom prst="rect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4681728"/>
            <a:ext cx="2048255" cy="566928"/>
          </a:xfrm>
          <a:prstGeom prst="rect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4681728"/>
            <a:ext cx="2048255" cy="566928"/>
          </a:xfrm>
          <a:prstGeom prst="rect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59" y="4681728"/>
            <a:ext cx="2048255" cy="566928"/>
          </a:xfrm>
          <a:prstGeom prst="rect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 dirty="0">
                <a:solidFill>
                  <a:srgbClr val="E31937"/>
                </a:solidFill>
                <a:latin typeface="Arial"/>
              </a:rPr>
              <a:t>Trade-off: 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RAG quality depends on retrieval and document coverage. Qualitative assessment.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0B0B0B"/>
                </a:solidFill>
                <a:latin typeface="Arial"/>
              </a:rPr>
              <a:t>End-to-</a:t>
            </a:r>
            <a:r>
              <a:rPr lang="en-IN" sz="3000" b="1" i="0" dirty="0">
                <a:solidFill>
                  <a:srgbClr val="0B0B0B"/>
                </a:solidFill>
                <a:latin typeface="Arial"/>
              </a:rPr>
              <a:t>E</a:t>
            </a:r>
            <a:r>
              <a:rPr sz="3000" b="1" i="0" dirty="0" err="1">
                <a:solidFill>
                  <a:srgbClr val="0B0B0B"/>
                </a:solidFill>
                <a:latin typeface="Arial"/>
              </a:rPr>
              <a:t>nd</a:t>
            </a:r>
            <a:r>
              <a:rPr sz="3000" b="1" i="0" dirty="0">
                <a:solidFill>
                  <a:srgbClr val="0B0B0B"/>
                </a:solidFill>
                <a:latin typeface="Arial"/>
              </a:rPr>
              <a:t> RAG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A.  OFFLINE: DOCUMENT 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7335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>
                <a:solidFill>
                  <a:srgbClr val="171717"/>
                </a:solidFill>
                <a:latin typeface="Arial"/>
              </a:rPr>
              <a:t>Policy files</a:t>
            </a:r>
          </a:p>
          <a:p>
            <a:pPr algn="ctr"/>
            <a:r>
              <a:rPr sz="1200" dirty="0">
                <a:solidFill>
                  <a:srgbClr val="555555"/>
                </a:solidFill>
                <a:latin typeface="Arial"/>
              </a:rPr>
              <a:t>5 synthetic .txt docs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22576" y="229057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7218" y="167335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Loader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Doc ID, classification, date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61154" y="229057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5796" y="167335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Chunker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500 chars, 100 overlap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99732" y="229057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64374" y="167335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Embeddings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all-MiniLM-L6-v2 (384-d)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38310" y="229057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902952" y="167335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dirty="0" err="1">
                <a:solidFill>
                  <a:srgbClr val="FFFFFF"/>
                </a:solidFill>
                <a:latin typeface="Arial"/>
              </a:rPr>
              <a:t>ChromaDB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CFCFCF"/>
                </a:solidFill>
                <a:latin typeface="Arial"/>
              </a:rPr>
              <a:t>250 chunks,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31937"/>
                </a:solidFill>
                <a:latin typeface="Arial"/>
              </a:rPr>
              <a:t>B.  REAL TIME: QUESTION ANSWERING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3931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71717"/>
                </a:solidFill>
                <a:latin typeface="Arial"/>
              </a:rPr>
              <a:t>Employee</a:t>
            </a:r>
          </a:p>
          <a:p>
            <a:pPr algn="ctr"/>
            <a:r>
              <a:rPr sz="1200">
                <a:solidFill>
                  <a:srgbClr val="555555"/>
                </a:solidFill>
                <a:latin typeface="Arial"/>
              </a:rPr>
              <a:t>Streamlit chat UI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22576" y="425653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7218" y="363931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Retrieve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Embed query, top 3 chunks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61154" y="425653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225796" y="363931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Filter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Similarity at least 0.35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99732" y="425653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4374" y="363931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Generate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gpt-oss-120b on Groq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38310" y="4256532"/>
            <a:ext cx="528066" cy="0"/>
          </a:xfrm>
          <a:prstGeom prst="line">
            <a:avLst/>
          </a:prstGeom>
          <a:ln w="22225">
            <a:solidFill>
              <a:srgbClr val="1717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02952" y="3639312"/>
            <a:ext cx="1737360" cy="1234440"/>
          </a:xfrm>
          <a:prstGeom prst="roundRect">
            <a:avLst>
              <a:gd name="adj" fmla="val 6000"/>
            </a:avLst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Answer</a:t>
            </a:r>
          </a:p>
          <a:p>
            <a:pPr algn="ctr"/>
            <a:r>
              <a:rPr sz="1200">
                <a:solidFill>
                  <a:srgbClr val="CFCFCF"/>
                </a:solidFill>
                <a:latin typeface="Arial"/>
              </a:rPr>
              <a:t>Text + sources + excerpts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5394960"/>
            <a:ext cx="10698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dirty="0">
                <a:solidFill>
                  <a:srgbClr val="E31937"/>
                </a:solidFill>
                <a:latin typeface="Arial"/>
              </a:rPr>
              <a:t>Guardrails in the prompt: </a:t>
            </a:r>
            <a:r>
              <a:rPr sz="1300" b="0" i="0" dirty="0">
                <a:solidFill>
                  <a:srgbClr val="171717"/>
                </a:solidFill>
                <a:latin typeface="Arial"/>
              </a:rPr>
              <a:t>answer only from retrieved context, no invented policies, cite document and section, say so when information is missing. </a:t>
            </a:r>
            <a:r>
              <a:rPr sz="1300" b="1" i="0" dirty="0">
                <a:solidFill>
                  <a:srgbClr val="171717"/>
                </a:solidFill>
                <a:latin typeface="Arial"/>
              </a:rPr>
              <a:t>Temperature 0.0 by default.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 dirty="0">
                <a:solidFill>
                  <a:srgbClr val="0B0B0B"/>
                </a:solidFill>
                <a:latin typeface="Arial"/>
              </a:rPr>
              <a:t>LLM </a:t>
            </a:r>
            <a:r>
              <a:rPr lang="en-IN" sz="3000" b="1" i="0" dirty="0">
                <a:solidFill>
                  <a:srgbClr val="0B0B0B"/>
                </a:solidFill>
                <a:latin typeface="Arial"/>
              </a:rPr>
              <a:t>VS </a:t>
            </a:r>
            <a:r>
              <a:rPr sz="3000" b="1" i="0" dirty="0">
                <a:solidFill>
                  <a:srgbClr val="0B0B0B"/>
                </a:solidFill>
                <a:latin typeface="Arial"/>
              </a:rPr>
              <a:t>SLM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28232"/>
            <a:ext cx="9418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7 / 11</a:t>
            </a:r>
          </a:p>
        </p:txBody>
      </p:sp>
      <p:sp>
        <p:nvSpPr>
          <p:cNvPr id="6" name="Model card 1"/>
          <p:cNvSpPr/>
          <p:nvPr/>
        </p:nvSpPr>
        <p:spPr>
          <a:xfrm>
            <a:off x="548640" y="1463040"/>
            <a:ext cx="3749039" cy="33832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22959" y="16916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 dirty="0">
                <a:solidFill>
                  <a:srgbClr val="171717"/>
                </a:solidFill>
                <a:latin typeface="Arial"/>
              </a:rPr>
              <a:t>SMALL MODEL (SLM)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5740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 dirty="0">
                <a:solidFill>
                  <a:srgbClr val="555555"/>
                </a:solidFill>
                <a:latin typeface="Arial"/>
              </a:rPr>
              <a:t>e.g. 3B-8B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11303"/>
            <a:ext cx="2805765" cy="1508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Lower resource requirements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Potentially lower latency and cost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Suitable for simpler, focused tasks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May require more optimization for complex tasks</a:t>
            </a:r>
          </a:p>
        </p:txBody>
      </p:sp>
      <p:sp>
        <p:nvSpPr>
          <p:cNvPr id="11" name="Model card 2"/>
          <p:cNvSpPr/>
          <p:nvPr/>
        </p:nvSpPr>
        <p:spPr>
          <a:xfrm>
            <a:off x="4520505" y="1372181"/>
            <a:ext cx="3749039" cy="3383280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79" y="1656333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LARGE MODEL (LLM)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057400"/>
            <a:ext cx="3200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 dirty="0">
                <a:solidFill>
                  <a:srgbClr val="CFCFCF"/>
                </a:solidFill>
                <a:latin typeface="Arial"/>
              </a:rPr>
              <a:t>e.g. 70B-120B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560319"/>
            <a:ext cx="2791327" cy="1508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400" dirty="0">
              <a:solidFill>
                <a:schemeClr val="bg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Handles complex questions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Better suited to multi-part responses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Flexible natural-language generation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Typically higher compute cost</a:t>
            </a:r>
          </a:p>
        </p:txBody>
      </p:sp>
      <p:sp>
        <p:nvSpPr>
          <p:cNvPr id="16" name="Demo models card"/>
          <p:cNvSpPr/>
          <p:nvPr/>
        </p:nvSpPr>
        <p:spPr>
          <a:xfrm>
            <a:off x="8412480" y="1463040"/>
            <a:ext cx="3227832" cy="33832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0" y="1584213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 dirty="0">
                <a:solidFill>
                  <a:srgbClr val="E31937"/>
                </a:solidFill>
                <a:latin typeface="Arial"/>
              </a:rPr>
              <a:t>MODELS</a:t>
            </a:r>
            <a:r>
              <a:rPr lang="en-IN" sz="1400" b="1" i="0" dirty="0">
                <a:solidFill>
                  <a:srgbClr val="E31937"/>
                </a:solidFill>
                <a:latin typeface="Arial"/>
              </a:rPr>
              <a:t> USED</a:t>
            </a:r>
            <a:endParaRPr sz="1400" b="1" i="0" dirty="0">
              <a:solidFill>
                <a:srgbClr val="E31937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03918" y="2027098"/>
            <a:ext cx="2993459" cy="18543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b="1" i="0" dirty="0">
                <a:solidFill>
                  <a:srgbClr val="171717"/>
                </a:solidFill>
                <a:latin typeface="Arial"/>
              </a:rPr>
              <a:t>Embedding</a:t>
            </a:r>
          </a:p>
          <a:p>
            <a:pPr algn="l">
              <a:spcAft>
                <a:spcPts val="300"/>
              </a:spcAft>
            </a:pPr>
            <a:r>
              <a:rPr b="0" i="0" dirty="0">
                <a:solidFill>
                  <a:srgbClr val="171717"/>
                </a:solidFill>
                <a:latin typeface="Arial"/>
              </a:rPr>
              <a:t>all-MiniLM-L6-v2</a:t>
            </a:r>
          </a:p>
          <a:p>
            <a:pPr algn="l">
              <a:spcAft>
                <a:spcPts val="300"/>
              </a:spcAft>
            </a:pPr>
            <a:r>
              <a:rPr b="0" i="0" dirty="0">
                <a:solidFill>
                  <a:srgbClr val="171717"/>
                </a:solidFill>
                <a:latin typeface="Arial"/>
              </a:rPr>
              <a:t>384-d vectors</a:t>
            </a:r>
          </a:p>
          <a:p>
            <a:pPr algn="l">
              <a:spcAft>
                <a:spcPts val="300"/>
              </a:spcAft>
            </a:pPr>
            <a:endParaRPr b="0" i="0" dirty="0">
              <a:solidFill>
                <a:srgbClr val="171717"/>
              </a:solidFill>
              <a:latin typeface="Arial"/>
            </a:endParaRPr>
          </a:p>
          <a:p>
            <a:pPr algn="l">
              <a:spcAft>
                <a:spcPts val="300"/>
              </a:spcAft>
            </a:pPr>
            <a:r>
              <a:rPr b="1" i="0" dirty="0">
                <a:solidFill>
                  <a:srgbClr val="171717"/>
                </a:solidFill>
                <a:latin typeface="Arial"/>
              </a:rPr>
              <a:t>Generation</a:t>
            </a:r>
          </a:p>
          <a:p>
            <a:pPr algn="l">
              <a:spcAft>
                <a:spcPts val="300"/>
              </a:spcAft>
            </a:pPr>
            <a:r>
              <a:rPr b="0" i="0" dirty="0" err="1">
                <a:solidFill>
                  <a:srgbClr val="171717"/>
                </a:solidFill>
                <a:latin typeface="Arial"/>
              </a:rPr>
              <a:t>openai</a:t>
            </a:r>
            <a:r>
              <a:rPr b="0" i="0" dirty="0">
                <a:solidFill>
                  <a:srgbClr val="171717"/>
                </a:solidFill>
                <a:latin typeface="Arial"/>
              </a:rPr>
              <a:t>/gpt-oss-120b</a:t>
            </a:r>
          </a:p>
        </p:txBody>
      </p:sp>
      <p:sp>
        <p:nvSpPr>
          <p:cNvPr id="19" name="Recommendation"/>
          <p:cNvSpPr/>
          <p:nvPr/>
        </p:nvSpPr>
        <p:spPr>
          <a:xfrm>
            <a:off x="632138" y="4967493"/>
            <a:ext cx="11091672" cy="1716771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Why LLM over SLM?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Cross-Policy Reasoning: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 SLMs miss clauses across overlapping documents; the LLM accurately connects complex multi-policy rules.</a:t>
            </a:r>
          </a:p>
          <a:p>
            <a:pPr lvl="0"/>
            <a:r>
              <a:rPr lang="en-IN" sz="1400" b="1" dirty="0">
                <a:latin typeface="Arial" panose="020B0604020202020204" pitchFamily="34" charset="0"/>
                <a:cs typeface="Arial" panose="020B0604020202020204" pitchFamily="34" charset="0"/>
              </a:rPr>
              <a:t>Zero Hallucination:</a:t>
            </a: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 SLMs tend to fabricate answers when uncertain; the LLM strictly refuses out-of-scope questions.</a:t>
            </a: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0B0B"/>
                </a:solidFill>
                <a:latin typeface="Arial"/>
              </a:rPr>
              <a:t>No hallucinations flagged across 15 test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55555"/>
                </a:solidFill>
                <a:latin typeface="Arial"/>
              </a:rPr>
              <a:t>OVERALL (15 QUESTIONS)</a:t>
            </a:r>
          </a:p>
        </p:txBody>
      </p:sp>
      <p:graphicFrame>
        <p:nvGraphicFramePr>
          <p:cNvPr id="7" name="Overall metrics chart"/>
          <p:cNvGraphicFramePr>
            <a:graphicFrameLocks noGrp="1"/>
          </p:cNvGraphicFramePr>
          <p:nvPr/>
        </p:nvGraphicFramePr>
        <p:xfrm>
          <a:off x="548640" y="1645920"/>
          <a:ext cx="59436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13716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55555"/>
                </a:solidFill>
                <a:latin typeface="Arial"/>
              </a:rPr>
              <a:t>CORRECTNESS BY QUESTION TYPE</a:t>
            </a:r>
          </a:p>
        </p:txBody>
      </p:sp>
      <p:graphicFrame>
        <p:nvGraphicFramePr>
          <p:cNvPr id="9" name="Correctness by type chart"/>
          <p:cNvGraphicFramePr>
            <a:graphicFrameLocks noGrp="1"/>
          </p:cNvGraphicFramePr>
          <p:nvPr/>
        </p:nvGraphicFramePr>
        <p:xfrm>
          <a:off x="6858000" y="1645920"/>
          <a:ext cx="4782312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5166360"/>
            <a:ext cx="2679192" cy="841248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FCFCF"/>
                </a:solidFill>
                <a:latin typeface="Arial"/>
              </a:rPr>
              <a:t>hallucination flagged, both configs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5166360"/>
            <a:ext cx="2679192" cy="841248"/>
          </a:xfrm>
          <a:prstGeom prst="roundRect">
            <a:avLst>
              <a:gd name="adj" fmla="val 4000"/>
            </a:avLst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5212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4 /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5669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FCFCF"/>
                </a:solidFill>
                <a:latin typeface="Arial"/>
              </a:rPr>
              <a:t>out-of-scope questions declined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166360"/>
            <a:ext cx="2679192" cy="84124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64224" y="5212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717"/>
                </a:solidFill>
                <a:latin typeface="Arial"/>
              </a:rPr>
              <a:t>~2s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5669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avg latency per answer (approx.)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5166360"/>
            <a:ext cx="2679192" cy="84124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80576" y="52120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1717"/>
                </a:solidFill>
                <a:latin typeface="Arial"/>
              </a:rPr>
              <a:t>No clear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56692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temp 0.0 vs 0.8, 15 questions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B0B0B"/>
                </a:solidFill>
                <a:latin typeface="Arial"/>
              </a:rPr>
              <a:t>The working application</a:t>
            </a:r>
          </a:p>
        </p:txBody>
      </p:sp>
      <p:sp>
        <p:nvSpPr>
          <p:cNvPr id="6" name="Frame Grounded answer with source badge"/>
          <p:cNvSpPr/>
          <p:nvPr/>
        </p:nvSpPr>
        <p:spPr>
          <a:xfrm>
            <a:off x="521207" y="1389888"/>
            <a:ext cx="5495544" cy="3115246"/>
          </a:xfrm>
          <a:prstGeom prst="rect">
            <a:avLst/>
          </a:prstGeom>
          <a:noFill/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creenshot Grounded answer with source badge" descr="Screenshot of the Tesla Integrity Bot Streamlit app: Grounded answer with source bad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440680" cy="3060382"/>
          </a:xfrm>
          <a:prstGeom prst="rect">
            <a:avLst/>
          </a:prstGeom>
        </p:spPr>
      </p:pic>
      <p:sp>
        <p:nvSpPr>
          <p:cNvPr id="8" name="Frame Retrieved chunks with similarity scores"/>
          <p:cNvSpPr/>
          <p:nvPr/>
        </p:nvSpPr>
        <p:spPr>
          <a:xfrm>
            <a:off x="6172200" y="1389888"/>
            <a:ext cx="5495544" cy="3115246"/>
          </a:xfrm>
          <a:prstGeom prst="rect">
            <a:avLst/>
          </a:prstGeom>
          <a:noFill/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Screenshot Retrieved chunks with similarity scores" descr="Screenshot of the Tesla Integrity Bot Streamlit app: Retrieved chunks with similarity scor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417320"/>
            <a:ext cx="5440680" cy="306038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48640" y="4614862"/>
            <a:ext cx="329184" cy="329184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614862"/>
            <a:ext cx="4983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1717"/>
                </a:solidFill>
                <a:latin typeface="Arial"/>
              </a:rPr>
              <a:t>Grounded answer with source badge</a:t>
            </a:r>
          </a:p>
        </p:txBody>
      </p:sp>
      <p:sp>
        <p:nvSpPr>
          <p:cNvPr id="12" name="Oval 11"/>
          <p:cNvSpPr/>
          <p:nvPr/>
        </p:nvSpPr>
        <p:spPr>
          <a:xfrm>
            <a:off x="6199632" y="4614862"/>
            <a:ext cx="329184" cy="329184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4614862"/>
            <a:ext cx="49834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1717"/>
                </a:solidFill>
                <a:latin typeface="Arial"/>
              </a:rPr>
              <a:t>Retrieved chunks with similarity scores</a:t>
            </a:r>
          </a:p>
        </p:txBody>
      </p:sp>
      <p:sp>
        <p:nvSpPr>
          <p:cNvPr id="14" name="Frame Mock sign-in"/>
          <p:cNvSpPr/>
          <p:nvPr/>
        </p:nvSpPr>
        <p:spPr>
          <a:xfrm>
            <a:off x="521207" y="5090350"/>
            <a:ext cx="2157984" cy="1237868"/>
          </a:xfrm>
          <a:prstGeom prst="rect">
            <a:avLst/>
          </a:prstGeom>
          <a:noFill/>
          <a:ln w="9525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creenshot Mock sign-in" descr="Screenshot of the Tesla Integrity Bot Streamlit app: Mock sign-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17782"/>
            <a:ext cx="2103120" cy="118300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2880360" y="5209222"/>
            <a:ext cx="329184" cy="329184"/>
          </a:xfrm>
          <a:prstGeom prst="ellipse">
            <a:avLst/>
          </a:prstGeom>
          <a:solidFill>
            <a:srgbClr val="E3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520922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1717"/>
                </a:solidFill>
                <a:latin typeface="Arial"/>
              </a:rPr>
              <a:t>Mock sign-in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666422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31937"/>
                </a:solidFill>
                <a:latin typeface="Arial"/>
              </a:rPr>
              <a:t>Unaltered captures </a:t>
            </a:r>
            <a:r>
              <a:rPr sz="1300" b="0" i="0">
                <a:solidFill>
                  <a:srgbClr val="171717"/>
                </a:solidFill>
                <a:latin typeface="Arial"/>
              </a:rPr>
              <a:t>of the running Streamlit app on the synthetic corpus. Any username is accepted at sign-in (mock gate). Sidebar exposes Top-K, temperature and top-p.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FDA91D-4E95-D7E3-430C-222D5031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7C91E67-15BF-3FD6-247C-3177833F0F99}"/>
              </a:ext>
            </a:extLst>
          </p:cNvPr>
          <p:cNvSpPr txBox="1"/>
          <p:nvPr/>
        </p:nvSpPr>
        <p:spPr>
          <a:xfrm>
            <a:off x="731520" y="1143000"/>
            <a:ext cx="10515600" cy="2677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5800" b="1" dirty="0">
                <a:solidFill>
                  <a:srgbClr val="FFFFFF"/>
                </a:solidFill>
                <a:latin typeface="Arial"/>
              </a:rPr>
              <a:t>              </a:t>
            </a:r>
          </a:p>
          <a:p>
            <a:endParaRPr lang="en-IN" sz="5800" b="1" dirty="0">
              <a:solidFill>
                <a:srgbClr val="FFFFFF"/>
              </a:solidFill>
              <a:latin typeface="Arial"/>
            </a:endParaRPr>
          </a:p>
          <a:p>
            <a:r>
              <a:rPr lang="en-IN" sz="5800" b="1" dirty="0">
                <a:solidFill>
                  <a:srgbClr val="FFFFFF"/>
                </a:solidFill>
                <a:latin typeface="Arial"/>
              </a:rPr>
              <a:t>                Thank You</a:t>
            </a:r>
            <a:endParaRPr sz="4000" b="1" i="0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155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825</Words>
  <Application>Microsoft Office PowerPoint</Application>
  <PresentationFormat>Widescreen</PresentationFormat>
  <Paragraphs>192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Dolly Jain</cp:lastModifiedBy>
  <cp:revision>18</cp:revision>
  <dcterms:created xsi:type="dcterms:W3CDTF">2013-01-27T09:14:16Z</dcterms:created>
  <dcterms:modified xsi:type="dcterms:W3CDTF">2026-10-15T06:34:59Z</dcterms:modified>
  <cp:category/>
</cp:coreProperties>
</file>